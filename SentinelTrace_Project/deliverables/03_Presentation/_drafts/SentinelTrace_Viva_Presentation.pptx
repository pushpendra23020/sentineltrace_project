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6a9dec2f0e42e9" /><Relationship Type="http://schemas.openxmlformats.org/officeDocument/2006/relationships/extended-properties" Target="/docProps/app.xml" Id="Rdb41721bd87449ad" /><Relationship Type="http://schemas.openxmlformats.org/officeDocument/2006/relationships/officeDocument" Target="/ppt/presentation.xml" Id="R175be7e27d034db0" /></Relationships>
</file>

<file path=ppt/presentation.xml><?xml version="1.0" encoding="utf-8"?>
<p:presentation xmlns:p="http://schemas.openxmlformats.org/presentationml/2006/main">
  <p:sldMasterIdLst>
    <p:sldMasterId xmlns:r="http://schemas.openxmlformats.org/officeDocument/2006/relationships" id="2147483648" r:id="R63a9a62a42364ad9"/>
  </p:sldMasterIdLst>
  <p:notesMasterIdLst>
    <p:notesMasterId xmlns:r="http://schemas.openxmlformats.org/officeDocument/2006/relationships" r:id="Re989da40e47d4a73"/>
  </p:notesMasterIdLst>
  <p:sldIdLst>
    <p:sldId xmlns:r="http://schemas.openxmlformats.org/officeDocument/2006/relationships" id="256" r:id="R11a65f1d7e7b4a2f"/>
    <p:sldId xmlns:r="http://schemas.openxmlformats.org/officeDocument/2006/relationships" id="257" r:id="R83ff14ffc8ce4123"/>
    <p:sldId xmlns:r="http://schemas.openxmlformats.org/officeDocument/2006/relationships" id="258" r:id="R86ec2b7812394ed0"/>
    <p:sldId xmlns:r="http://schemas.openxmlformats.org/officeDocument/2006/relationships" id="259" r:id="R456a685533bb4031"/>
    <p:sldId xmlns:r="http://schemas.openxmlformats.org/officeDocument/2006/relationships" id="260" r:id="Rde6aa4cfcb1f4615"/>
    <p:sldId xmlns:r="http://schemas.openxmlformats.org/officeDocument/2006/relationships" id="261" r:id="R77a46994304c46e3"/>
    <p:sldId xmlns:r="http://schemas.openxmlformats.org/officeDocument/2006/relationships" id="262" r:id="R3578edb672bf4000"/>
    <p:sldId xmlns:r="http://schemas.openxmlformats.org/officeDocument/2006/relationships" id="263" r:id="Rebde230665a346e1"/>
    <p:sldId xmlns:r="http://schemas.openxmlformats.org/officeDocument/2006/relationships" id="264" r:id="Rc5ed8f1be4ac4a7c"/>
    <p:sldId xmlns:r="http://schemas.openxmlformats.org/officeDocument/2006/relationships" id="265" r:id="R6579a80bbdc341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ACFCA41-7221-4674-B144-DCA2F1B7582E}">
  <a:tblStyle styleId="{DACFCA41-7221-4674-B144-DCA2F1B758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4b7c4d66ec314096" /><Relationship Type="http://schemas.openxmlformats.org/officeDocument/2006/relationships/slideMaster" Target="/ppt/slideMasters/slideMaster1.xml" Id="R63a9a62a42364ad9" /><Relationship Type="http://schemas.openxmlformats.org/officeDocument/2006/relationships/notesMaster" Target="/ppt/notesMasters/notesMaster1.xml" Id="Re989da40e47d4a73" /><Relationship Type="http://schemas.openxmlformats.org/officeDocument/2006/relationships/presProps" Target="/ppt/presProps.xml" Id="Re399dfa53ba64c87" /><Relationship Type="http://schemas.openxmlformats.org/officeDocument/2006/relationships/tableStyles" Target="/ppt/tableStyles.xml" Id="Rcb8a245279ff4d4e" /><Relationship Type="http://schemas.openxmlformats.org/officeDocument/2006/relationships/slide" Target="/ppt/slides/slide1.xml" Id="R11a65f1d7e7b4a2f" /><Relationship Type="http://schemas.openxmlformats.org/officeDocument/2006/relationships/slide" Target="/ppt/slides/slide2.xml" Id="R83ff14ffc8ce4123" /><Relationship Type="http://schemas.openxmlformats.org/officeDocument/2006/relationships/slide" Target="/ppt/slides/slide3.xml" Id="R86ec2b7812394ed0" /><Relationship Type="http://schemas.openxmlformats.org/officeDocument/2006/relationships/slide" Target="/ppt/slides/slide4.xml" Id="R456a685533bb4031" /><Relationship Type="http://schemas.openxmlformats.org/officeDocument/2006/relationships/slide" Target="/ppt/slides/slide5.xml" Id="Rde6aa4cfcb1f4615" /><Relationship Type="http://schemas.openxmlformats.org/officeDocument/2006/relationships/slide" Target="/ppt/slides/slide6.xml" Id="R77a46994304c46e3" /><Relationship Type="http://schemas.openxmlformats.org/officeDocument/2006/relationships/slide" Target="/ppt/slides/slide7.xml" Id="R3578edb672bf4000" /><Relationship Type="http://schemas.openxmlformats.org/officeDocument/2006/relationships/slide" Target="/ppt/slides/slide8.xml" Id="Rebde230665a346e1" /><Relationship Type="http://schemas.openxmlformats.org/officeDocument/2006/relationships/slide" Target="/ppt/slides/slide9.xml" Id="Rc5ed8f1be4ac4a7c" /><Relationship Type="http://schemas.openxmlformats.org/officeDocument/2006/relationships/slide" Target="/ppt/slides/slide10.xml" Id="R6579a80bbdc341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5a23d7b7f740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d632290fe34c8c" /><Relationship Type="http://schemas.openxmlformats.org/officeDocument/2006/relationships/notesMaster" Target="/ppt/notesMasters/notesMaster1.xml" Id="Rd1baf7a520494a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9ab89cef9a4105" /><Relationship Type="http://schemas.openxmlformats.org/officeDocument/2006/relationships/notesMaster" Target="/ppt/notesMasters/notesMaster1.xml" Id="Rfb04bfccef604a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742eb08bed445e" /><Relationship Type="http://schemas.openxmlformats.org/officeDocument/2006/relationships/notesMaster" Target="/ppt/notesMasters/notesMaster1.xml" Id="Ra2ec4c59f85846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3835150a11413d" /><Relationship Type="http://schemas.openxmlformats.org/officeDocument/2006/relationships/notesMaster" Target="/ppt/notesMasters/notesMaster1.xml" Id="Re0ac34ed7c7641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be091993234590" /><Relationship Type="http://schemas.openxmlformats.org/officeDocument/2006/relationships/notesMaster" Target="/ppt/notesMasters/notesMaster1.xml" Id="R29908bedd28146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fcefbdb02c41eb" /><Relationship Type="http://schemas.openxmlformats.org/officeDocument/2006/relationships/notesMaster" Target="/ppt/notesMasters/notesMaster1.xml" Id="R188be3acb0b147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368098d7d3401a" /><Relationship Type="http://schemas.openxmlformats.org/officeDocument/2006/relationships/notesMaster" Target="/ppt/notesMasters/notesMaster1.xml" Id="R98df79a5f3244e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ae54c90648460b" /><Relationship Type="http://schemas.openxmlformats.org/officeDocument/2006/relationships/notesMaster" Target="/ppt/notesMasters/notesMaster1.xml" Id="R07c554d660094f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703bb7bc8d4286" /><Relationship Type="http://schemas.openxmlformats.org/officeDocument/2006/relationships/notesMaster" Target="/ppt/notesMasters/notesMaster1.xml" Id="Rafb40035883d48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69af938fda40ed" /><Relationship Type="http://schemas.openxmlformats.org/officeDocument/2006/relationships/notesMaster" Target="/ppt/notesMasters/notesMaster1.xml" Id="Rcd5f7114298c48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Source context: NIST SP 800-92, Guide to Computer Security Log Management. The project claim describes the supplied SentinelTrace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Objectives are derived from the approved SentinelTrace synopsis and current source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Technology details reflect app.py and static/index.html in the SentinelTrace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Sources: NIST SP 800-92; OWASP Cheat Sheet Series; MITRE ATT and CK. Accessed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Architecture reflects the implemented local analysis pipeline. No log content leaves the local 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Expected outcomes match the SentinelTrace synopsis. The application is a defensive triage prototype, not a production SIEM.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Full URLs and access dates appear in the SentinelTrace synopsis references section.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95f5d3b27d40ff"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bd04f6429f47de" /><Relationship Type="http://schemas.openxmlformats.org/officeDocument/2006/relationships/slideLayout" Target="/ppt/slideLayouts/slideLayout1.xml" Id="Rd43e7f22c3c9455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43e7f22c3c9455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836698635e4c10" /><Relationship Type="http://schemas.openxmlformats.org/officeDocument/2006/relationships/image" Target="/ppt/media/image.png" Id="R230dadb04c7b4151" /><Relationship Type="http://schemas.openxmlformats.org/officeDocument/2006/relationships/notesSlide" Target="/ppt/notesSlides/notesSlide1.xml" Id="Rc9ea7dcacaa942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46da3ef5f14ad5" /><Relationship Type="http://schemas.openxmlformats.org/officeDocument/2006/relationships/notesSlide" Target="/ppt/notesSlides/notesSlide2.xml" Id="R6d172345329247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1df529af254812" /><Relationship Type="http://schemas.openxmlformats.org/officeDocument/2006/relationships/notesSlide" Target="/ppt/notesSlides/notesSlide3.xml" Id="Rc91ab7adcd1942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3c39935e354aba" /><Relationship Type="http://schemas.openxmlformats.org/officeDocument/2006/relationships/notesSlide" Target="/ppt/notesSlides/notesSlide4.xml" Id="R4e9c47b8bcb5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5da56425ee4c95" /><Relationship Type="http://schemas.openxmlformats.org/officeDocument/2006/relationships/notesSlide" Target="/ppt/notesSlides/notesSlide5.xml" Id="Rc717d4e990d141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a10d52a8ee41a9" /><Relationship Type="http://schemas.openxmlformats.org/officeDocument/2006/relationships/notesSlide" Target="/ppt/notesSlides/notesSlide6.xml" Id="Rac37ec48d2074c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bfe39610654baa" /><Relationship Type="http://schemas.openxmlformats.org/officeDocument/2006/relationships/notesSlide" Target="/ppt/notesSlides/notesSlide7.xml" Id="R7301309e5b78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4293e590414ca5" /><Relationship Type="http://schemas.openxmlformats.org/officeDocument/2006/relationships/notesSlide" Target="/ppt/notesSlides/notesSlide8.xml" Id="R7cbdc37aae3748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c945919da14813" /><Relationship Type="http://schemas.openxmlformats.org/officeDocument/2006/relationships/notesSlide" Target="/ppt/notesSlides/notesSlide9.xml" Id="Rae86a597eb524b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bb0cbf88e24cd9" /><Relationship Type="http://schemas.openxmlformats.org/officeDocument/2006/relationships/notesSlide" Target="/ppt/notesSlides/notesSlide10.xml" Id="R386633a175714db5" /></Relationships>
</file>

<file path=ppt/slides/slide1.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3D001E5E-24DA-4DFF-AD91-661FD7F27C61}"/>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 name="Google Shape;17;p3">
            <a:extLst xmlns:a="http://schemas.openxmlformats.org/drawingml/2006/main">
              <a:ext uri="{FF2B5EF4-FFF2-40B4-BE49-F238E27FC236}">
                <a16:creationId xmlns:a16="http://schemas.microsoft.com/office/drawing/2014/main" id="{752C3DF4-7978-4DEA-9A61-1B16A1E9D196}"/>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 name="Google Shape;18;p3">
            <a:extLst xmlns:a="http://schemas.openxmlformats.org/drawingml/2006/main">
              <a:ext uri="{FF2B5EF4-FFF2-40B4-BE49-F238E27FC236}">
                <a16:creationId xmlns:a16="http://schemas.microsoft.com/office/drawing/2014/main" id="{90266C7D-1327-4090-987E-D03189DED8FB}"/>
              </a:ext>
            </a:extLst>
          </p:cNvPr>
          <p:cNvSpPr>
            <a:spLocks xmlns:a="http://schemas.openxmlformats.org/drawingml/2006/main" noGrp="1"/>
          </p:cNvSpPr>
          <p:nvPr/>
        </p:nvSpPr>
        <p:spPr>
          <a:xfrm xmlns:a="http://schemas.openxmlformats.org/drawingml/2006/main">
            <a:off x="914400" y="1691640"/>
            <a:ext cx="103601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2700" b="1" i="0" u="none" cap="none">
                <a:solidFill>
                  <a:srgbClr val="FFFFFF"/>
                </a:solidFill>
                <a:latin typeface="Calibri"/>
                <a:ea typeface="Calibri"/>
                <a:cs typeface="Calibri"/>
              </a:rPr>
              <a:t>LLOYD INSTITUTE OF ENGINEERING &amp; TECHNOLOGY</a:t>
            </a:r>
            <a:endParaRPr sz="27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C371392D-6927-452D-B07A-9ADA560AEAFC}"/>
              </a:ext>
            </a:extLst>
          </p:cNvPr>
          <p:cNvSpPr>
            <a:spLocks xmlns:a="http://schemas.openxmlformats.org/drawingml/2006/main" noGrp="1"/>
          </p:cNvSpPr>
          <p:nvPr/>
        </p:nvSpPr>
        <p:spPr>
          <a:xfrm xmlns:a="http://schemas.openxmlformats.org/drawingml/2006/main">
            <a:off x="914400" y="2114821"/>
            <a:ext cx="10360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250"/>
              <a:buFont typeface="Calibri"/>
              <a:buNone/>
            </a:pPr>
            <a:r>
              <a:rPr sz="1650" b="0" i="0" u="none" cap="none">
                <a:solidFill>
                  <a:srgbClr val="CFE3EE"/>
                </a:solidFill>
                <a:latin typeface="Calibri"/>
                <a:ea typeface="Calibri"/>
                <a:cs typeface="Calibri"/>
              </a:rPr>
              <a:t>Greater Noida  |  Department of Computer Science &amp; Engineering</a:t>
            </a:r>
            <a:endParaRPr sz="165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6131F681-FC2E-4105-B186-9D643D61F05E}"/>
              </a:ext>
            </a:extLst>
          </p:cNvPr>
          <p:cNvSpPr>
            <a:spLocks xmlns:a="http://schemas.openxmlformats.org/drawingml/2006/main" noGrp="1"/>
          </p:cNvSpPr>
          <p:nvPr/>
        </p:nvSpPr>
        <p:spPr>
          <a:xfrm xmlns:a="http://schemas.openxmlformats.org/drawingml/2006/main">
            <a:off x="914400" y="2715775"/>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FB6CE"/>
              </a:buClr>
              <a:buSzPts val="1200"/>
              <a:buFont typeface="Calibri"/>
              <a:buNone/>
            </a:pPr>
            <a:r>
              <a:rPr sz="2000" b="1" i="0" u="none" cap="none">
                <a:solidFill>
                  <a:srgbClr val="6FB6CE"/>
                </a:solidFill>
                <a:latin typeface="Calibri"/>
                <a:ea typeface="Calibri"/>
                <a:cs typeface="Calibri"/>
              </a:rPr>
              <a:t>B.TECH FOURTH YEAR MINI PROJECT  ·  CYBER SECURITY</a:t>
            </a:r>
            <a:endParaRPr sz="2000" b="0" i="0" u="none" cap="none">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445D176A-B6F9-42E8-A53C-84023288210C}"/>
              </a:ext>
            </a:extLst>
          </p:cNvPr>
          <p:cNvSpPr>
            <a:spLocks xmlns:a="http://schemas.openxmlformats.org/drawingml/2006/main" noGrp="1"/>
          </p:cNvSpPr>
          <p:nvPr/>
        </p:nvSpPr>
        <p:spPr>
          <a:xfrm xmlns:a="http://schemas.openxmlformats.org/drawingml/2006/main">
            <a:off x="1280160" y="3200400"/>
            <a:ext cx="9628632" cy="1371600"/>
          </a:xfrm>
          <a:prstGeom xmlns:a="http://schemas.openxmlformats.org/drawingml/2006/main" prst="roundRect">
            <a:avLst>
              <a:gd name="adj" fmla="val 8000"/>
            </a:avLst>
          </a:prstGeom>
          <a:solidFill xmlns:a="http://schemas.openxmlformats.org/drawingml/2006/main">
            <a:srgbClr val="FFFFFF">
              <a:alpha val="5882"/>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2" name="Google Shape;22;p3">
            <a:extLst xmlns:a="http://schemas.openxmlformats.org/drawingml/2006/main">
              <a:ext uri="{FF2B5EF4-FFF2-40B4-BE49-F238E27FC236}">
                <a16:creationId xmlns:a16="http://schemas.microsoft.com/office/drawing/2014/main" id="{A55E6ADE-DC89-4BE7-9319-0B73FF00FF72}"/>
              </a:ext>
            </a:extLst>
          </p:cNvPr>
          <p:cNvSpPr>
            <a:spLocks xmlns:a="http://schemas.openxmlformats.org/drawingml/2006/main" noGrp="1"/>
          </p:cNvSpPr>
          <p:nvPr/>
        </p:nvSpPr>
        <p:spPr>
          <a:xfrm xmlns:a="http://schemas.openxmlformats.org/drawingml/2006/main">
            <a:off x="1463040" y="3200400"/>
            <a:ext cx="9262872"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3200"/>
              <a:buFont typeface="Cambria"/>
              <a:buNone/>
            </a:pPr>
            <a:r>
              <a:rPr sz="3000" b="1" i="0" u="none" cap="none">
                <a:solidFill>
                  <a:srgbClr val="FFFFFF"/>
                </a:solidFill>
                <a:latin typeface="Cambria"/>
                <a:ea typeface="Cambria"/>
                <a:cs typeface="Cambria"/>
              </a:rPr>
              <a:t>SentinelTrace: Explainable Local Log Threat Triage</a:t>
            </a:r>
            <a:endParaRPr sz="30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F6DEDB4B-3FB4-415E-8C36-27BA63F1FB4E}"/>
              </a:ext>
            </a:extLst>
          </p:cNvPr>
          <p:cNvSpPr>
            <a:spLocks xmlns:a="http://schemas.openxmlformats.org/drawingml/2006/main" noGrp="1"/>
          </p:cNvSpPr>
          <p:nvPr/>
        </p:nvSpPr>
        <p:spPr>
          <a:xfrm xmlns:a="http://schemas.openxmlformats.org/drawingml/2006/main">
            <a:off x="914400" y="4709160"/>
            <a:ext cx="10360152"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300"/>
              <a:buFont typeface="Calibri"/>
              <a:buNone/>
            </a:pPr>
            <a:r>
              <a:rPr sz="1500" b="0" i="1" u="none" cap="none">
                <a:solidFill>
                  <a:srgbClr val="CFE3EE"/>
                </a:solidFill>
                <a:latin typeface="Calibri"/>
                <a:ea typeface="Calibri"/>
                <a:cs typeface="Calibri"/>
              </a:rPr>
              <a:t>Mini Project Presentation   |   Session 2026–27</a:t>
            </a:r>
            <a:endParaRPr sz="1500" b="0" i="0" u="none" cap="none">
              <a:solidFill>
                <a:schemeClr val="dk1"/>
              </a:solidFill>
              <a:latin typeface="Calibri"/>
              <a:ea typeface="Calibri"/>
              <a:cs typeface="Calibri"/>
            </a:endParaRPr>
          </a:p>
        </p:txBody>
      </p:sp>
      <p:cxnSp>
        <p:nvCxnSpPr>
          <p:cNvPr id="39" name="Google Shape;24;p3"/>
          <p:cNvCxnSpPr/>
          <p:nvPr/>
        </p:nvCxnSpPr>
        <p:spPr>
          <a:xfrm xmlns:a="http://schemas.openxmlformats.org/drawingml/2006/main">
            <a:off x="6094476" y="5257800"/>
            <a:ext cx="0" cy="1188720"/>
          </a:xfrm>
          <a:prstGeom xmlns:a="http://schemas.openxmlformats.org/drawingml/2006/main" prst="straightConnector1">
            <a:avLst/>
          </a:prstGeom>
          <a:ln xmlns:a="http://schemas.openxmlformats.org/drawingml/2006/main" w="9525" cap="flat">
            <a:solidFill>
              <a:srgbClr val="FFFFFF">
                <a:alpha val="30196"/>
              </a:srgbClr>
            </a:solidFill>
            <a:prstDash val="solid"/>
            <a:round/>
            <a:headEnd type="none" w="sm" len="sm"/>
            <a:tailEnd type="none" w="sm" len="sm"/>
          </a:ln>
        </p:spPr>
      </p:cxnSp>
      <p:sp>
        <p:nvSpPr>
          <p:cNvPr id="25" name="Google Shape;25;p3">
            <a:extLst xmlns:a="http://schemas.openxmlformats.org/drawingml/2006/main">
              <a:ext uri="{FF2B5EF4-FFF2-40B4-BE49-F238E27FC236}">
                <a16:creationId xmlns:a16="http://schemas.microsoft.com/office/drawing/2014/main" id="{03AB92A3-3E89-4FB4-93A0-30E75BA01DB2}"/>
              </a:ext>
            </a:extLst>
          </p:cNvPr>
          <p:cNvSpPr>
            <a:spLocks xmlns:a="http://schemas.openxmlformats.org/drawingml/2006/main" noGrp="1"/>
          </p:cNvSpPr>
          <p:nvPr/>
        </p:nvSpPr>
        <p:spPr>
          <a:xfrm xmlns:a="http://schemas.openxmlformats.org/drawingml/2006/main">
            <a:off x="914400" y="5303520"/>
            <a:ext cx="4114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150" b="1" i="0" u="none" cap="none">
                <a:solidFill>
                  <a:srgbClr val="6FB6CE"/>
                </a:solidFill>
                <a:latin typeface="Calibri"/>
                <a:ea typeface="Calibri"/>
                <a:cs typeface="Calibri"/>
              </a:rPr>
              <a:t>GUIDE NAME</a:t>
            </a:r>
            <a:endParaRPr sz="1250" b="0" i="0" u="none" cap="none">
              <a:solidFill>
                <a:schemeClr val="dk1"/>
              </a:solidFill>
              <a:latin typeface="Calibri"/>
              <a:ea typeface="Calibri"/>
              <a:cs typeface="Calibri"/>
            </a:endParaRPr>
          </a:p>
        </p:txBody>
      </p:sp>
      <p:sp>
        <p:nvSpPr>
          <p:cNvPr id="26" name="Google Shape;26;p3">
            <a:extLst xmlns:a="http://schemas.openxmlformats.org/drawingml/2006/main">
              <a:ext uri="{FF2B5EF4-FFF2-40B4-BE49-F238E27FC236}">
                <a16:creationId xmlns:a16="http://schemas.microsoft.com/office/drawing/2014/main" id="{F88C3271-3334-4D5D-968F-D51B8756D6C5}"/>
              </a:ext>
            </a:extLst>
          </p:cNvPr>
          <p:cNvSpPr>
            <a:spLocks xmlns:a="http://schemas.openxmlformats.org/drawingml/2006/main" noGrp="1"/>
          </p:cNvSpPr>
          <p:nvPr/>
        </p:nvSpPr>
        <p:spPr>
          <a:xfrm xmlns:a="http://schemas.openxmlformats.org/drawingml/2006/main">
            <a:off x="914400" y="5577840"/>
            <a:ext cx="4480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
              <a:buFont typeface="Calibri"/>
              <a:buNone/>
            </a:pPr>
            <a:r>
              <a:rPr sz="1400" b="1" i="0" u="none" cap="none">
                <a:solidFill>
                  <a:srgbClr val="FFFFFF"/>
                </a:solidFill>
                <a:latin typeface="Calibri"/>
                <a:ea typeface="Calibri"/>
                <a:cs typeface="Calibri"/>
              </a:rPr>
              <a:t>[ Name of Guide ]</a:t>
            </a:r>
            <a:endParaRPr sz="1400" b="0" i="0" u="none" cap="none">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FCC78AD4-A86A-470D-8C73-C525677C5195}"/>
              </a:ext>
            </a:extLst>
          </p:cNvPr>
          <p:cNvSpPr>
            <a:spLocks xmlns:a="http://schemas.openxmlformats.org/drawingml/2006/main" noGrp="1"/>
          </p:cNvSpPr>
          <p:nvPr/>
        </p:nvSpPr>
        <p:spPr>
          <a:xfrm xmlns:a="http://schemas.openxmlformats.org/drawingml/2006/main">
            <a:off x="914400" y="5989320"/>
            <a:ext cx="44805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FE3EE"/>
              </a:buClr>
              <a:buSzPts val="1100"/>
              <a:buFont typeface="Calibri"/>
              <a:buNone/>
            </a:pPr>
            <a:r>
              <a:rPr sz="1200" b="0" i="0" u="none" cap="none">
                <a:solidFill>
                  <a:srgbClr val="CFE3EE"/>
                </a:solidFill>
                <a:latin typeface="Calibri"/>
                <a:ea typeface="Calibri"/>
                <a:cs typeface="Calibri"/>
              </a:rPr>
              <a:t>Assistant Professor, Department of CSE</a:t>
            </a:r>
            <a:endParaRPr sz="1200" b="0" i="0" u="none" cap="none">
              <a:solidFill>
                <a:schemeClr val="dk1"/>
              </a:solidFill>
              <a:latin typeface="Calibri"/>
              <a:ea typeface="Calibri"/>
              <a:cs typeface="Calibri"/>
            </a:endParaRPr>
          </a:p>
        </p:txBody>
      </p:sp>
      <p:sp>
        <p:nvSpPr>
          <p:cNvPr id="28" name="Google Shape;28;p3">
            <a:extLst xmlns:a="http://schemas.openxmlformats.org/drawingml/2006/main">
              <a:ext uri="{FF2B5EF4-FFF2-40B4-BE49-F238E27FC236}">
                <a16:creationId xmlns:a16="http://schemas.microsoft.com/office/drawing/2014/main" id="{FB212570-3C02-4356-9E8E-C05480A970BC}"/>
              </a:ext>
            </a:extLst>
          </p:cNvPr>
          <p:cNvSpPr>
            <a:spLocks xmlns:a="http://schemas.openxmlformats.org/drawingml/2006/main" noGrp="1"/>
          </p:cNvSpPr>
          <p:nvPr/>
        </p:nvSpPr>
        <p:spPr>
          <a:xfrm xmlns:a="http://schemas.openxmlformats.org/drawingml/2006/main">
            <a:off x="7316451" y="5303525"/>
            <a:ext cx="40221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250" b="1">
                <a:solidFill>
                  <a:srgbClr val="6FB6CE"/>
                </a:solidFill>
                <a:latin typeface="Calibri"/>
                <a:ea typeface="Calibri"/>
                <a:cs typeface="Calibri"/>
              </a:rPr>
              <a:t>SUBMITTED BY</a:t>
            </a:r>
            <a:endParaRPr sz="1250" b="0" i="0" u="none" cap="none">
              <a:solidFill>
                <a:schemeClr val="dk1"/>
              </a:solidFill>
              <a:latin typeface="Calibri"/>
              <a:ea typeface="Calibri"/>
              <a:cs typeface="Calibri"/>
            </a:endParaRPr>
          </a:p>
        </p:txBody>
      </p:sp>
      <p:sp>
        <p:nvSpPr>
          <p:cNvPr id="29" name="Google Shape;29;p3">
            <a:extLst xmlns:a="http://schemas.openxmlformats.org/drawingml/2006/main">
              <a:ext uri="{FF2B5EF4-FFF2-40B4-BE49-F238E27FC236}">
                <a16:creationId xmlns:a16="http://schemas.microsoft.com/office/drawing/2014/main" id="{5ED0AD2C-77DA-45B7-A61E-59EEECD9BBD6}"/>
              </a:ext>
            </a:extLst>
          </p:cNvPr>
          <p:cNvSpPr>
            <a:spLocks xmlns:a="http://schemas.openxmlformats.org/drawingml/2006/main" noGrp="1"/>
          </p:cNvSpPr>
          <p:nvPr/>
        </p:nvSpPr>
        <p:spPr>
          <a:xfrm xmlns:a="http://schemas.openxmlformats.org/drawingml/2006/main">
            <a:off x="7316451" y="5577850"/>
            <a:ext cx="4022100" cy="100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FFFFFF"/>
              </a:buClr>
              <a:buSzPts val="1150"/>
              <a:buFont typeface="Calibri"/>
              <a:buNone/>
            </a:pPr>
            <a:r>
              <a:rPr sz="1250" b="0" i="0" u="none" cap="none">
                <a:solidFill>
                  <a:srgbClr val="FFFFFF"/>
                </a:solidFill>
                <a:latin typeface="Calibri"/>
                <a:ea typeface="Calibri"/>
                <a:cs typeface="Calibri"/>
              </a:rPr>
              <a:t>Student Name: ____________________</a:t>
            </a:r>
            <a:endParaRPr sz="1250" b="0" i="0" u="non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pPr>
            <a:r>
              <a:t>Roll No.: ____________________</a:t>
            </a:r>
            <a:endParaRPr sz="1250" b="0" i="0" u="non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pPr>
            <a:r>
              <a:t>Section: ____________________</a:t>
            </a:r>
            <a:endParaRPr sz="1250" b="0" i="0" u="none" cap="none">
              <a:solidFill>
                <a:schemeClr val="dk1"/>
              </a:solidFill>
              <a:latin typeface="Calibri"/>
              <a:ea typeface="Calibri"/>
              <a:cs typeface="Calibri"/>
            </a:endParaRPr>
          </a:p>
        </p:txBody>
      </p:sp>
      <p:pic>
        <p:nvPicPr>
          <p:cNvPr id="45" name="Google Shape;30;p3"/>
          <p:cNvPicPr>
            <a:picLocks xmlns:a="http://schemas.openxmlformats.org/drawingml/2006/main" noChangeAspect="1"/>
          </p:cNvPicPr>
          <p:nvPr/>
        </p:nvPicPr>
        <p:blipFill rotWithShape="1">
          <a:blip xmlns:r="http://schemas.openxmlformats.org/officeDocument/2006/relationships" xmlns:a="http://schemas.openxmlformats.org/drawingml/2006/main" r:embed="R230dadb04c7b4151">
            <a:alphaModFix/>
          </a:blip>
          <a:srcRect xmlns:a="http://schemas.openxmlformats.org/drawingml/2006/main" l="0" t="0" r="0" b="0"/>
          <a:stretch xmlns:a="http://schemas.openxmlformats.org/drawingml/2006/main"/>
        </p:blipFill>
        <p:spPr>
          <a:xfrm xmlns:a="http://schemas.openxmlformats.org/drawingml/2006/main">
            <a:off x="5591563" y="424800"/>
            <a:ext cx="1005835" cy="9986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13185978"/>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6" name="Google Shape;36;p4">
            <a:extLst xmlns:a="http://schemas.openxmlformats.org/drawingml/2006/main">
              <a:ext uri="{FF2B5EF4-FFF2-40B4-BE49-F238E27FC236}">
                <a16:creationId xmlns:a16="http://schemas.microsoft.com/office/drawing/2014/main" id="{1867535D-EE2F-4EF4-846E-0E59DDD4D532}"/>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7" name="Google Shape;37;p4">
            <a:extLst xmlns:a="http://schemas.openxmlformats.org/drawingml/2006/main">
              <a:ext uri="{FF2B5EF4-FFF2-40B4-BE49-F238E27FC236}">
                <a16:creationId xmlns:a16="http://schemas.microsoft.com/office/drawing/2014/main" id="{6088253B-DC1D-47DB-9E25-8CC41BDC6D7D}"/>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8" name="Google Shape;38;p4">
            <a:extLst xmlns:a="http://schemas.openxmlformats.org/drawingml/2006/main">
              <a:ext uri="{FF2B5EF4-FFF2-40B4-BE49-F238E27FC236}">
                <a16:creationId xmlns:a16="http://schemas.microsoft.com/office/drawing/2014/main" id="{30DE53E6-14E8-469B-B52B-20655D3B916A}"/>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4">
            <a:extLst xmlns:a="http://schemas.openxmlformats.org/drawingml/2006/main">
              <a:ext uri="{FF2B5EF4-FFF2-40B4-BE49-F238E27FC236}">
                <a16:creationId xmlns:a16="http://schemas.microsoft.com/office/drawing/2014/main" id="{FE2C67EF-5D0F-4BFA-A9AA-530DD9090B5B}"/>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01</a:t>
            </a:r>
            <a:endParaRPr sz="1600" b="0" i="0" u="none" cap="none">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F4148872-48A8-4D34-BF64-DDDD375082AC}"/>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OVERVIEW</a:t>
            </a:r>
            <a:endParaRPr sz="1100" b="0" i="0" u="none" cap="none">
              <a:solidFill>
                <a:schemeClr val="dk1"/>
              </a:solidFill>
              <a:latin typeface="Calibri"/>
              <a:ea typeface="Calibri"/>
              <a:cs typeface="Calibri"/>
            </a:endParaRPr>
          </a:p>
        </p:txBody>
      </p:sp>
      <p:sp>
        <p:nvSpPr>
          <p:cNvPr id="41" name="Google Shape;41;p4">
            <a:extLst xmlns:a="http://schemas.openxmlformats.org/drawingml/2006/main">
              <a:ext uri="{FF2B5EF4-FFF2-40B4-BE49-F238E27FC236}">
                <a16:creationId xmlns:a16="http://schemas.microsoft.com/office/drawing/2014/main" id="{BB729462-1A4E-4B84-B2C0-27F498D033C8}"/>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Presentation Agenda</a:t>
            </a:r>
            <a:endParaRPr sz="3000" b="0" i="0" u="none" cap="none">
              <a:solidFill>
                <a:schemeClr val="dk1"/>
              </a:solidFill>
              <a:latin typeface="Calibri"/>
              <a:ea typeface="Calibri"/>
              <a:cs typeface="Calibri"/>
            </a:endParaRPr>
          </a:p>
        </p:txBody>
      </p:sp>
      <p:sp>
        <p:nvSpPr>
          <p:cNvPr id="42" name="Google Shape;42;p4">
            <a:extLst xmlns:a="http://schemas.openxmlformats.org/drawingml/2006/main">
              <a:ext uri="{FF2B5EF4-FFF2-40B4-BE49-F238E27FC236}">
                <a16:creationId xmlns:a16="http://schemas.microsoft.com/office/drawing/2014/main" id="{483CD7AE-EEEB-42C2-9234-6D4A85845A89}"/>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3" name="Google Shape;43;p4">
            <a:extLst xmlns:a="http://schemas.openxmlformats.org/drawingml/2006/main">
              <a:ext uri="{FF2B5EF4-FFF2-40B4-BE49-F238E27FC236}">
                <a16:creationId xmlns:a16="http://schemas.microsoft.com/office/drawing/2014/main" id="{608929EA-7369-4335-B152-3C476935C47E}"/>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1</a:t>
            </a:r>
            <a:endParaRPr sz="1400" b="0" i="0" u="none" cap="none">
              <a:solidFill>
                <a:schemeClr val="dk1"/>
              </a:solidFill>
              <a:latin typeface="Calibri"/>
              <a:ea typeface="Calibri"/>
              <a:cs typeface="Calibri"/>
            </a:endParaRPr>
          </a:p>
        </p:txBody>
      </p:sp>
      <p:sp>
        <p:nvSpPr>
          <p:cNvPr id="44" name="Google Shape;44;p4">
            <a:extLst xmlns:a="http://schemas.openxmlformats.org/drawingml/2006/main">
              <a:ext uri="{FF2B5EF4-FFF2-40B4-BE49-F238E27FC236}">
                <a16:creationId xmlns:a16="http://schemas.microsoft.com/office/drawing/2014/main" id="{509108AE-0607-40C6-AE77-87D6E55D2C93}"/>
              </a:ext>
            </a:extLst>
          </p:cNvPr>
          <p:cNvSpPr>
            <a:spLocks xmlns:a="http://schemas.openxmlformats.org/drawingml/2006/main" noGrp="1"/>
          </p:cNvSpPr>
          <p:nvPr/>
        </p:nvSpPr>
        <p:spPr>
          <a:xfrm xmlns:a="http://schemas.openxmlformats.org/drawingml/2006/main">
            <a:off x="153619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Problem Statement</a:t>
            </a:r>
            <a:endParaRPr sz="1600" b="0" i="0" u="none" cap="none">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62101451-C733-4B4C-A8F4-D9602F2AA3C0}"/>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6" name="Google Shape;46;p4">
            <a:extLst xmlns:a="http://schemas.openxmlformats.org/drawingml/2006/main">
              <a:ext uri="{FF2B5EF4-FFF2-40B4-BE49-F238E27FC236}">
                <a16:creationId xmlns:a16="http://schemas.microsoft.com/office/drawing/2014/main" id="{45A1CB50-DA7E-4452-8872-E08BBB31220F}"/>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2</a:t>
            </a:r>
            <a:endParaRPr sz="1400" b="0" i="0" u="none" cap="none">
              <a:solidFill>
                <a:schemeClr val="dk1"/>
              </a:solidFill>
              <a:latin typeface="Calibri"/>
              <a:ea typeface="Calibri"/>
              <a:cs typeface="Calibri"/>
            </a:endParaRPr>
          </a:p>
        </p:txBody>
      </p:sp>
      <p:sp>
        <p:nvSpPr>
          <p:cNvPr id="47" name="Google Shape;47;p4">
            <a:extLst xmlns:a="http://schemas.openxmlformats.org/drawingml/2006/main">
              <a:ext uri="{FF2B5EF4-FFF2-40B4-BE49-F238E27FC236}">
                <a16:creationId xmlns:a16="http://schemas.microsoft.com/office/drawing/2014/main" id="{469508D2-2BE4-4124-8F3C-6FC0AFA54DCD}"/>
              </a:ext>
            </a:extLst>
          </p:cNvPr>
          <p:cNvSpPr>
            <a:spLocks xmlns:a="http://schemas.openxmlformats.org/drawingml/2006/main" noGrp="1"/>
          </p:cNvSpPr>
          <p:nvPr/>
        </p:nvSpPr>
        <p:spPr>
          <a:xfrm xmlns:a="http://schemas.openxmlformats.org/drawingml/2006/main">
            <a:off x="153619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Objectives</a:t>
            </a:r>
            <a:endParaRPr sz="1600" b="0" i="0" u="none" cap="none">
              <a:solidFill>
                <a:schemeClr val="dk1"/>
              </a:solidFill>
              <a:latin typeface="Calibri"/>
              <a:ea typeface="Calibri"/>
              <a:cs typeface="Calibri"/>
            </a:endParaRPr>
          </a:p>
        </p:txBody>
      </p:sp>
      <p:sp>
        <p:nvSpPr>
          <p:cNvPr id="48" name="Google Shape;48;p4">
            <a:extLst xmlns:a="http://schemas.openxmlformats.org/drawingml/2006/main">
              <a:ext uri="{FF2B5EF4-FFF2-40B4-BE49-F238E27FC236}">
                <a16:creationId xmlns:a16="http://schemas.microsoft.com/office/drawing/2014/main" id="{FC789692-55DD-43CB-A2EA-31C773D4A5B3}"/>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9" name="Google Shape;49;p4">
            <a:extLst xmlns:a="http://schemas.openxmlformats.org/drawingml/2006/main">
              <a:ext uri="{FF2B5EF4-FFF2-40B4-BE49-F238E27FC236}">
                <a16:creationId xmlns:a16="http://schemas.microsoft.com/office/drawing/2014/main" id="{7E6127B6-E08F-4D00-B58A-3622E35BB6CF}"/>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3</a:t>
            </a:r>
            <a:endParaRPr sz="1400" b="0" i="0" u="none" cap="none">
              <a:solidFill>
                <a:schemeClr val="dk1"/>
              </a:solidFill>
              <a:latin typeface="Calibri"/>
              <a:ea typeface="Calibri"/>
              <a:cs typeface="Calibri"/>
            </a:endParaRPr>
          </a:p>
        </p:txBody>
      </p:sp>
      <p:sp>
        <p:nvSpPr>
          <p:cNvPr id="50" name="Google Shape;50;p4">
            <a:extLst xmlns:a="http://schemas.openxmlformats.org/drawingml/2006/main">
              <a:ext uri="{FF2B5EF4-FFF2-40B4-BE49-F238E27FC236}">
                <a16:creationId xmlns:a16="http://schemas.microsoft.com/office/drawing/2014/main" id="{45AF0FDC-50A0-4777-B59F-92FA29BC4EFF}"/>
              </a:ext>
            </a:extLst>
          </p:cNvPr>
          <p:cNvSpPr>
            <a:spLocks xmlns:a="http://schemas.openxmlformats.org/drawingml/2006/main" noGrp="1"/>
          </p:cNvSpPr>
          <p:nvPr/>
        </p:nvSpPr>
        <p:spPr>
          <a:xfrm xmlns:a="http://schemas.openxmlformats.org/drawingml/2006/main">
            <a:off x="153619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Technology Stack</a:t>
            </a:r>
            <a:endParaRPr sz="1600" b="0" i="0" u="none" cap="none">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0567B0F9-DD0E-472D-B2C4-22409CC0A111}"/>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2" name="Google Shape;52;p4">
            <a:extLst xmlns:a="http://schemas.openxmlformats.org/drawingml/2006/main">
              <a:ext uri="{FF2B5EF4-FFF2-40B4-BE49-F238E27FC236}">
                <a16:creationId xmlns:a16="http://schemas.microsoft.com/office/drawing/2014/main" id="{AB4D2854-9D84-4C02-8683-9FB7C0A28E97}"/>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4</a:t>
            </a:r>
            <a:endParaRPr sz="1400" b="0" i="0" u="none" cap="none">
              <a:solidFill>
                <a:schemeClr val="dk1"/>
              </a:solidFill>
              <a:latin typeface="Calibri"/>
              <a:ea typeface="Calibri"/>
              <a:cs typeface="Calibri"/>
            </a:endParaRPr>
          </a:p>
        </p:txBody>
      </p:sp>
      <p:sp>
        <p:nvSpPr>
          <p:cNvPr id="53" name="Google Shape;53;p4">
            <a:extLst xmlns:a="http://schemas.openxmlformats.org/drawingml/2006/main">
              <a:ext uri="{FF2B5EF4-FFF2-40B4-BE49-F238E27FC236}">
                <a16:creationId xmlns:a16="http://schemas.microsoft.com/office/drawing/2014/main" id="{7D65118A-D937-4A73-90FF-8AB1BF10F4D5}"/>
              </a:ext>
            </a:extLst>
          </p:cNvPr>
          <p:cNvSpPr>
            <a:spLocks xmlns:a="http://schemas.openxmlformats.org/drawingml/2006/main" noGrp="1"/>
          </p:cNvSpPr>
          <p:nvPr/>
        </p:nvSpPr>
        <p:spPr>
          <a:xfrm xmlns:a="http://schemas.openxmlformats.org/drawingml/2006/main">
            <a:off x="1536192" y="3557016"/>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Literature Survey</a:t>
            </a:r>
            <a:endParaRPr sz="1600" b="0" i="0" u="none" cap="none">
              <a:solidFill>
                <a:schemeClr val="dk1"/>
              </a:solidFill>
              <a:latin typeface="Calibri"/>
              <a:ea typeface="Calibri"/>
              <a:cs typeface="Calibri"/>
            </a:endParaRPr>
          </a:p>
        </p:txBody>
      </p:sp>
      <p:sp>
        <p:nvSpPr>
          <p:cNvPr id="54" name="Google Shape;54;p4">
            <a:extLst xmlns:a="http://schemas.openxmlformats.org/drawingml/2006/main">
              <a:ext uri="{FF2B5EF4-FFF2-40B4-BE49-F238E27FC236}">
                <a16:creationId xmlns:a16="http://schemas.microsoft.com/office/drawing/2014/main" id="{0D9CFBAF-CFAC-43A5-9F30-F06087F3E9EF}"/>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5" name="Google Shape;55;p4">
            <a:extLst xmlns:a="http://schemas.openxmlformats.org/drawingml/2006/main">
              <a:ext uri="{FF2B5EF4-FFF2-40B4-BE49-F238E27FC236}">
                <a16:creationId xmlns:a16="http://schemas.microsoft.com/office/drawing/2014/main" id="{FAA105CB-D7A8-4286-89A2-4D2293B450A5}"/>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5</a:t>
            </a:r>
            <a:endParaRPr sz="1400" b="0" i="0" u="none" cap="none">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4356A707-2394-4195-A2FE-8409E65D0737}"/>
              </a:ext>
            </a:extLst>
          </p:cNvPr>
          <p:cNvSpPr>
            <a:spLocks xmlns:a="http://schemas.openxmlformats.org/drawingml/2006/main" noGrp="1"/>
          </p:cNvSpPr>
          <p:nvPr/>
        </p:nvSpPr>
        <p:spPr>
          <a:xfrm xmlns:a="http://schemas.openxmlformats.org/drawingml/2006/main">
            <a:off x="693115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System Architecture</a:t>
            </a:r>
            <a:endParaRPr sz="1600" b="0" i="0" u="none" cap="none">
              <a:solidFill>
                <a:schemeClr val="dk1"/>
              </a:solidFill>
              <a:latin typeface="Calibri"/>
              <a:ea typeface="Calibri"/>
              <a:cs typeface="Calibri"/>
            </a:endParaRPr>
          </a:p>
        </p:txBody>
      </p:sp>
      <p:sp>
        <p:nvSpPr>
          <p:cNvPr id="57" name="Google Shape;57;p4">
            <a:extLst xmlns:a="http://schemas.openxmlformats.org/drawingml/2006/main">
              <a:ext uri="{FF2B5EF4-FFF2-40B4-BE49-F238E27FC236}">
                <a16:creationId xmlns:a16="http://schemas.microsoft.com/office/drawing/2014/main" id="{0D7AA4EB-6F3F-4A11-9FC6-0BEDBD6E8029}"/>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8" name="Google Shape;58;p4">
            <a:extLst xmlns:a="http://schemas.openxmlformats.org/drawingml/2006/main">
              <a:ext uri="{FF2B5EF4-FFF2-40B4-BE49-F238E27FC236}">
                <a16:creationId xmlns:a16="http://schemas.microsoft.com/office/drawing/2014/main" id="{1FA9FBD0-1A7C-4592-9763-9672EF2E0337}"/>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6</a:t>
            </a:r>
            <a:endParaRPr sz="1400" b="0" i="0" u="none" cap="none">
              <a:solidFill>
                <a:schemeClr val="dk1"/>
              </a:solidFill>
              <a:latin typeface="Calibri"/>
              <a:ea typeface="Calibri"/>
              <a:cs typeface="Calibri"/>
            </a:endParaRPr>
          </a:p>
        </p:txBody>
      </p:sp>
      <p:sp>
        <p:nvSpPr>
          <p:cNvPr id="59" name="Google Shape;59;p4">
            <a:extLst xmlns:a="http://schemas.openxmlformats.org/drawingml/2006/main">
              <a:ext uri="{FF2B5EF4-FFF2-40B4-BE49-F238E27FC236}">
                <a16:creationId xmlns:a16="http://schemas.microsoft.com/office/drawing/2014/main" id="{F9343A70-E62B-4324-8B48-323E283555E5}"/>
              </a:ext>
            </a:extLst>
          </p:cNvPr>
          <p:cNvSpPr>
            <a:spLocks xmlns:a="http://schemas.openxmlformats.org/drawingml/2006/main" noGrp="1"/>
          </p:cNvSpPr>
          <p:nvPr/>
        </p:nvSpPr>
        <p:spPr>
          <a:xfrm xmlns:a="http://schemas.openxmlformats.org/drawingml/2006/main">
            <a:off x="693115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Expected Outcome</a:t>
            </a:r>
            <a:endParaRPr sz="1600" b="0" i="0" u="none" cap="none">
              <a:solidFill>
                <a:schemeClr val="dk1"/>
              </a:solidFill>
              <a:latin typeface="Calibri"/>
              <a:ea typeface="Calibri"/>
              <a:cs typeface="Calibri"/>
            </a:endParaRPr>
          </a:p>
        </p:txBody>
      </p:sp>
      <p:sp>
        <p:nvSpPr>
          <p:cNvPr id="60" name="Google Shape;60;p4">
            <a:extLst xmlns:a="http://schemas.openxmlformats.org/drawingml/2006/main">
              <a:ext uri="{FF2B5EF4-FFF2-40B4-BE49-F238E27FC236}">
                <a16:creationId xmlns:a16="http://schemas.microsoft.com/office/drawing/2014/main" id="{CBB111A1-B1EB-4A13-BF1E-9D415D619BC4}"/>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61" name="Google Shape;61;p4">
            <a:extLst xmlns:a="http://schemas.openxmlformats.org/drawingml/2006/main">
              <a:ext uri="{FF2B5EF4-FFF2-40B4-BE49-F238E27FC236}">
                <a16:creationId xmlns:a16="http://schemas.microsoft.com/office/drawing/2014/main" id="{BFF559AB-28ED-4CEE-97D8-792ADBB260A7}"/>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7</a:t>
            </a:r>
            <a:endParaRPr sz="1400" b="0" i="0" u="none" cap="none">
              <a:solidFill>
                <a:schemeClr val="dk1"/>
              </a:solidFill>
              <a:latin typeface="Calibri"/>
              <a:ea typeface="Calibri"/>
              <a:cs typeface="Calibri"/>
            </a:endParaRPr>
          </a:p>
        </p:txBody>
      </p:sp>
      <p:sp>
        <p:nvSpPr>
          <p:cNvPr id="62" name="Google Shape;62;p4">
            <a:extLst xmlns:a="http://schemas.openxmlformats.org/drawingml/2006/main">
              <a:ext uri="{FF2B5EF4-FFF2-40B4-BE49-F238E27FC236}">
                <a16:creationId xmlns:a16="http://schemas.microsoft.com/office/drawing/2014/main" id="{048487FA-5104-4B9D-AE74-0E2291A5B124}"/>
              </a:ext>
            </a:extLst>
          </p:cNvPr>
          <p:cNvSpPr>
            <a:spLocks xmlns:a="http://schemas.openxmlformats.org/drawingml/2006/main" noGrp="1"/>
          </p:cNvSpPr>
          <p:nvPr/>
        </p:nvSpPr>
        <p:spPr>
          <a:xfrm xmlns:a="http://schemas.openxmlformats.org/drawingml/2006/main">
            <a:off x="693115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References</a:t>
            </a:r>
            <a:endParaRPr sz="1600" b="0" i="0" u="none" cap="none">
              <a:solidFill>
                <a:schemeClr val="dk1"/>
              </a:solidFill>
              <a:latin typeface="Calibri"/>
              <a:ea typeface="Calibri"/>
              <a:cs typeface="Calibri"/>
            </a:endParaRPr>
          </a:p>
        </p:txBody>
      </p:sp>
      <p:sp>
        <p:nvSpPr>
          <p:cNvPr id="63" name="Google Shape;63;p4">
            <a:extLst xmlns:a="http://schemas.openxmlformats.org/drawingml/2006/main">
              <a:ext uri="{FF2B5EF4-FFF2-40B4-BE49-F238E27FC236}">
                <a16:creationId xmlns:a16="http://schemas.microsoft.com/office/drawing/2014/main" id="{877116D2-DE94-48F8-8440-E812A5C8861D}"/>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64" name="Google Shape;64;p4">
            <a:extLst xmlns:a="http://schemas.openxmlformats.org/drawingml/2006/main">
              <a:ext uri="{FF2B5EF4-FFF2-40B4-BE49-F238E27FC236}">
                <a16:creationId xmlns:a16="http://schemas.microsoft.com/office/drawing/2014/main" id="{32C1B97C-D87C-4324-8633-6F39E7275FE6}"/>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2</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957264411"/>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0" name="Google Shape;70;p5">
            <a:extLst xmlns:a="http://schemas.openxmlformats.org/drawingml/2006/main">
              <a:ext uri="{FF2B5EF4-FFF2-40B4-BE49-F238E27FC236}">
                <a16:creationId xmlns:a16="http://schemas.microsoft.com/office/drawing/2014/main" id="{E8C575D4-0E06-4DDE-998B-7EE416036F9A}"/>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1" name="Google Shape;71;p5">
            <a:extLst xmlns:a="http://schemas.openxmlformats.org/drawingml/2006/main">
              <a:ext uri="{FF2B5EF4-FFF2-40B4-BE49-F238E27FC236}">
                <a16:creationId xmlns:a16="http://schemas.microsoft.com/office/drawing/2014/main" id="{F11B83F3-72B4-4A55-B63E-21B89A843E2C}"/>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2" name="Google Shape;72;p5">
            <a:extLst xmlns:a="http://schemas.openxmlformats.org/drawingml/2006/main">
              <a:ext uri="{FF2B5EF4-FFF2-40B4-BE49-F238E27FC236}">
                <a16:creationId xmlns:a16="http://schemas.microsoft.com/office/drawing/2014/main" id="{6DC1785D-5A43-4D63-AC1E-D4F8B1BDB3C0}"/>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3" name="Google Shape;73;p5">
            <a:extLst xmlns:a="http://schemas.openxmlformats.org/drawingml/2006/main">
              <a:ext uri="{FF2B5EF4-FFF2-40B4-BE49-F238E27FC236}">
                <a16:creationId xmlns:a16="http://schemas.microsoft.com/office/drawing/2014/main" id="{FE8A989A-3DDE-4E06-8041-532105A1B8EA}"/>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02</a:t>
            </a:r>
            <a:endParaRPr sz="1600" b="0" i="0" u="none" cap="none">
              <a:solidFill>
                <a:schemeClr val="dk1"/>
              </a:solidFill>
              <a:latin typeface="Calibri"/>
              <a:ea typeface="Calibri"/>
              <a:cs typeface="Calibri"/>
            </a:endParaRPr>
          </a:p>
        </p:txBody>
      </p:sp>
      <p:sp>
        <p:nvSpPr>
          <p:cNvPr id="74" name="Google Shape;74;p5">
            <a:extLst xmlns:a="http://schemas.openxmlformats.org/drawingml/2006/main">
              <a:ext uri="{FF2B5EF4-FFF2-40B4-BE49-F238E27FC236}">
                <a16:creationId xmlns:a16="http://schemas.microsoft.com/office/drawing/2014/main" id="{77EF7160-C421-44AD-8819-4A2BA3BEE86B}"/>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02</a:t>
            </a:r>
            <a:endParaRPr sz="1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4F7261C9-5D6C-41CF-930D-D7C715660F18}"/>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Problem Statement</a:t>
            </a:r>
            <a:endParaRPr sz="30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E152CAAC-B1B4-47BD-8272-261C02B6C270}"/>
              </a:ext>
            </a:extLst>
          </p:cNvPr>
          <p:cNvSpPr>
            <a:spLocks xmlns:a="http://schemas.openxmlformats.org/drawingml/2006/main" noGrp="1"/>
          </p:cNvSpPr>
          <p:nvPr/>
        </p:nvSpPr>
        <p:spPr>
          <a:xfrm xmlns:a="http://schemas.openxmlformats.org/drawingml/2006/main">
            <a:off x="1234450" y="1543875"/>
            <a:ext cx="9849000" cy="44454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12700" cmpd="sng">
            <a:solidFill>
              <a:srgbClr val="DEE4EF"/>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7" name="Google Shape;77;p5">
            <a:extLst xmlns:a="http://schemas.openxmlformats.org/drawingml/2006/main">
              <a:ext uri="{FF2B5EF4-FFF2-40B4-BE49-F238E27FC236}">
                <a16:creationId xmlns:a16="http://schemas.microsoft.com/office/drawing/2014/main" id="{C805415F-23DE-452F-960E-AE765D73849E}"/>
              </a:ext>
            </a:extLst>
          </p:cNvPr>
          <p:cNvSpPr>
            <a:spLocks xmlns:a="http://schemas.openxmlformats.org/drawingml/2006/main" noGrp="1"/>
          </p:cNvSpPr>
          <p:nvPr/>
        </p:nvSpPr>
        <p:spPr>
          <a:xfrm xmlns:a="http://schemas.openxmlformats.org/drawingml/2006/main">
            <a:off x="1554475" y="1772638"/>
            <a:ext cx="9106200" cy="421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30000"/>
              </a:lnSpc>
              <a:spcBef>
                <a:spcPts val="0"/>
              </a:spcBef>
              <a:spcAft>
                <a:spcPts val="0"/>
              </a:spcAft>
              <a:buClr>
                <a:srgbClr val="6B7593"/>
              </a:buClr>
              <a:buSzPts val="1400"/>
              <a:buFont typeface="Calibri"/>
              <a:buNone/>
            </a:pPr>
            <a:r>
              <a:rPr sz="1300" b="0" i="1" u="none" cap="none">
                <a:solidFill>
                  <a:srgbClr val="6B7593"/>
                </a:solidFill>
                <a:latin typeface="Calibri"/>
                <a:ea typeface="Calibri"/>
                <a:cs typeface="Calibri"/>
              </a:rPr>
              <a:t>Web and SSH logs contain routine events mixed with activity that needs review. Manual inspection makes it difficult to connect repeated failed logins, suspicious request paths, and related events from the same source IP. Enterprise SIEM products can be expensive or complex for a student laboratory. SentinelTrace processes authorised local logs, detects selected indicators, groups related findings, and explains why an analyst should investigate. Each finding remains a triage signal rather than proof of compromise.</a:t>
            </a:r>
            <a:endParaRPr sz="14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F87C2919-1041-45A6-A8AB-5EF979AC5FD1}"/>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A9063671-8434-43E5-ADD0-F0DA3B0E4668}"/>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3</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94761094"/>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5" name="Google Shape;85;p6">
            <a:extLst xmlns:a="http://schemas.openxmlformats.org/drawingml/2006/main">
              <a:ext uri="{FF2B5EF4-FFF2-40B4-BE49-F238E27FC236}">
                <a16:creationId xmlns:a16="http://schemas.microsoft.com/office/drawing/2014/main" id="{45A81EEA-87FA-4825-B832-F92FBECCBA35}"/>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6" name="Google Shape;86;p6">
            <a:extLst xmlns:a="http://schemas.openxmlformats.org/drawingml/2006/main">
              <a:ext uri="{FF2B5EF4-FFF2-40B4-BE49-F238E27FC236}">
                <a16:creationId xmlns:a16="http://schemas.microsoft.com/office/drawing/2014/main" id="{48ACDF82-27DB-446B-8E89-581B4E642701}"/>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7" name="Google Shape;87;p6">
            <a:extLst xmlns:a="http://schemas.openxmlformats.org/drawingml/2006/main">
              <a:ext uri="{FF2B5EF4-FFF2-40B4-BE49-F238E27FC236}">
                <a16:creationId xmlns:a16="http://schemas.microsoft.com/office/drawing/2014/main" id="{C2234C24-5AF4-46DF-A548-BD870082E881}"/>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8" name="Google Shape;88;p6">
            <a:extLst xmlns:a="http://schemas.openxmlformats.org/drawingml/2006/main">
              <a:ext uri="{FF2B5EF4-FFF2-40B4-BE49-F238E27FC236}">
                <a16:creationId xmlns:a16="http://schemas.microsoft.com/office/drawing/2014/main" id="{F53A0C95-7B65-4F4B-86D9-E5D527AC4003}"/>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03</a:t>
            </a:r>
            <a:endParaRPr sz="1600" b="0" i="0" u="none" cap="none">
              <a:solidFill>
                <a:schemeClr val="dk1"/>
              </a:solidFill>
              <a:latin typeface="Calibri"/>
              <a:ea typeface="Calibri"/>
              <a:cs typeface="Calibri"/>
            </a:endParaRPr>
          </a:p>
        </p:txBody>
      </p:sp>
      <p:sp>
        <p:nvSpPr>
          <p:cNvPr id="89" name="Google Shape;89;p6">
            <a:extLst xmlns:a="http://schemas.openxmlformats.org/drawingml/2006/main">
              <a:ext uri="{FF2B5EF4-FFF2-40B4-BE49-F238E27FC236}">
                <a16:creationId xmlns:a16="http://schemas.microsoft.com/office/drawing/2014/main" id="{D7E8A69C-3434-427F-BD4E-5E59D94B68AB}"/>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03</a:t>
            </a:r>
            <a:endParaRPr sz="1100" b="0" i="0" u="none" cap="none">
              <a:solidFill>
                <a:schemeClr val="dk1"/>
              </a:solidFill>
              <a:latin typeface="Calibri"/>
              <a:ea typeface="Calibri"/>
              <a:cs typeface="Calibri"/>
            </a:endParaRPr>
          </a:p>
        </p:txBody>
      </p:sp>
      <p:sp>
        <p:nvSpPr>
          <p:cNvPr id="90" name="Google Shape;90;p6">
            <a:extLst xmlns:a="http://schemas.openxmlformats.org/drawingml/2006/main">
              <a:ext uri="{FF2B5EF4-FFF2-40B4-BE49-F238E27FC236}">
                <a16:creationId xmlns:a16="http://schemas.microsoft.com/office/drawing/2014/main" id="{2A96C1D5-D826-48E4-ADB8-72D1AB42E807}"/>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Objectives</a:t>
            </a:r>
            <a:endParaRPr sz="3000" b="0" i="0" u="none" cap="none">
              <a:solidFill>
                <a:schemeClr val="dk1"/>
              </a:solidFill>
              <a:latin typeface="Calibri"/>
              <a:ea typeface="Calibri"/>
              <a:cs typeface="Calibri"/>
            </a:endParaRPr>
          </a:p>
        </p:txBody>
      </p:sp>
      <p:sp>
        <p:nvSpPr>
          <p:cNvPr id="91" name="Google Shape;91;p6">
            <a:extLst xmlns:a="http://schemas.openxmlformats.org/drawingml/2006/main">
              <a:ext uri="{FF2B5EF4-FFF2-40B4-BE49-F238E27FC236}">
                <a16:creationId xmlns:a16="http://schemas.microsoft.com/office/drawing/2014/main" id="{F370C7C4-7716-45BB-92F8-D4702261B2FC}"/>
              </a:ext>
            </a:extLst>
          </p:cNvPr>
          <p:cNvSpPr>
            <a:spLocks xmlns:a="http://schemas.openxmlformats.org/drawingml/2006/main" noGrp="1"/>
          </p:cNvSpPr>
          <p:nvPr/>
        </p:nvSpPr>
        <p:spPr>
          <a:xfrm xmlns:a="http://schemas.openxmlformats.org/drawingml/2006/main">
            <a:off x="1234415" y="1632220"/>
            <a:ext cx="466350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2" name="Google Shape;92;p6">
            <a:extLst xmlns:a="http://schemas.openxmlformats.org/drawingml/2006/main">
              <a:ext uri="{FF2B5EF4-FFF2-40B4-BE49-F238E27FC236}">
                <a16:creationId xmlns:a16="http://schemas.microsoft.com/office/drawing/2014/main" id="{E38A22D8-71A0-47D7-A4F7-81621AF68782}"/>
              </a:ext>
            </a:extLst>
          </p:cNvPr>
          <p:cNvSpPr>
            <a:spLocks xmlns:a="http://schemas.openxmlformats.org/drawingml/2006/main" noGrp="1"/>
          </p:cNvSpPr>
          <p:nvPr/>
        </p:nvSpPr>
        <p:spPr>
          <a:xfrm xmlns:a="http://schemas.openxmlformats.org/drawingml/2006/main">
            <a:off x="1463040" y="22860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01</a:t>
            </a:r>
            <a:endParaRPr sz="4000" b="0" i="0" u="none" cap="none">
              <a:solidFill>
                <a:schemeClr val="dk1"/>
              </a:solidFill>
              <a:latin typeface="Calibri"/>
              <a:ea typeface="Calibri"/>
              <a:cs typeface="Calibri"/>
            </a:endParaRPr>
          </a:p>
        </p:txBody>
      </p:sp>
      <p:sp>
        <p:nvSpPr>
          <p:cNvPr id="93" name="Google Shape;93;p6">
            <a:extLst xmlns:a="http://schemas.openxmlformats.org/drawingml/2006/main">
              <a:ext uri="{FF2B5EF4-FFF2-40B4-BE49-F238E27FC236}">
                <a16:creationId xmlns:a16="http://schemas.microsoft.com/office/drawing/2014/main" id="{7644C6B5-910F-4985-9BC4-4B303899F77A}"/>
              </a:ext>
            </a:extLst>
          </p:cNvPr>
          <p:cNvSpPr>
            <a:spLocks xmlns:a="http://schemas.openxmlformats.org/drawingml/2006/main" noGrp="1"/>
          </p:cNvSpPr>
          <p:nvPr/>
        </p:nvSpPr>
        <p:spPr>
          <a:xfrm xmlns:a="http://schemas.openxmlformats.org/drawingml/2006/main">
            <a:off x="2423160" y="2107683"/>
            <a:ext cx="32919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Parse authorised Apache and SSH log entries into normalised events</a:t>
            </a:r>
            <a:endParaRPr sz="1300" b="0" i="0" u="none" cap="none">
              <a:solidFill>
                <a:schemeClr val="dk1"/>
              </a:solidFill>
              <a:latin typeface="Calibri"/>
              <a:ea typeface="Calibri"/>
              <a:cs typeface="Calibri"/>
            </a:endParaRPr>
          </a:p>
        </p:txBody>
      </p:sp>
      <p:sp>
        <p:nvSpPr>
          <p:cNvPr id="94" name="Google Shape;94;p6">
            <a:extLst xmlns:a="http://schemas.openxmlformats.org/drawingml/2006/main">
              <a:ext uri="{FF2B5EF4-FFF2-40B4-BE49-F238E27FC236}">
                <a16:creationId xmlns:a16="http://schemas.microsoft.com/office/drawing/2014/main" id="{213FF52D-5172-44A6-ABE8-4BA4B7C4DDAB}"/>
              </a:ext>
            </a:extLst>
          </p:cNvPr>
          <p:cNvSpPr>
            <a:spLocks xmlns:a="http://schemas.openxmlformats.org/drawingml/2006/main" noGrp="1"/>
          </p:cNvSpPr>
          <p:nvPr/>
        </p:nvSpPr>
        <p:spPr>
          <a:xfrm xmlns:a="http://schemas.openxmlformats.org/drawingml/2006/main">
            <a:off x="6355055" y="1632220"/>
            <a:ext cx="466350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5" name="Google Shape;95;p6">
            <a:extLst xmlns:a="http://schemas.openxmlformats.org/drawingml/2006/main">
              <a:ext uri="{FF2B5EF4-FFF2-40B4-BE49-F238E27FC236}">
                <a16:creationId xmlns:a16="http://schemas.microsoft.com/office/drawing/2014/main" id="{1560A748-A9D3-423B-9970-1DD57DBC7B38}"/>
              </a:ext>
            </a:extLst>
          </p:cNvPr>
          <p:cNvSpPr>
            <a:spLocks xmlns:a="http://schemas.openxmlformats.org/drawingml/2006/main" noGrp="1"/>
          </p:cNvSpPr>
          <p:nvPr/>
        </p:nvSpPr>
        <p:spPr>
          <a:xfrm xmlns:a="http://schemas.openxmlformats.org/drawingml/2006/main">
            <a:off x="6583680" y="22860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02</a:t>
            </a:r>
            <a:endParaRPr sz="4000" b="0" i="0" u="none" cap="none">
              <a:solidFill>
                <a:schemeClr val="dk1"/>
              </a:solidFill>
              <a:latin typeface="Calibri"/>
              <a:ea typeface="Calibri"/>
              <a:cs typeface="Calibri"/>
            </a:endParaRPr>
          </a:p>
        </p:txBody>
      </p:sp>
      <p:sp>
        <p:nvSpPr>
          <p:cNvPr id="96" name="Google Shape;96;p6">
            <a:extLst xmlns:a="http://schemas.openxmlformats.org/drawingml/2006/main">
              <a:ext uri="{FF2B5EF4-FFF2-40B4-BE49-F238E27FC236}">
                <a16:creationId xmlns:a16="http://schemas.microsoft.com/office/drawing/2014/main" id="{B55218C7-9211-4BFD-B537-C3F945AC0648}"/>
              </a:ext>
            </a:extLst>
          </p:cNvPr>
          <p:cNvSpPr>
            <a:spLocks xmlns:a="http://schemas.openxmlformats.org/drawingml/2006/main" noGrp="1"/>
          </p:cNvSpPr>
          <p:nvPr/>
        </p:nvSpPr>
        <p:spPr>
          <a:xfrm xmlns:a="http://schemas.openxmlformats.org/drawingml/2006/main">
            <a:off x="7543775" y="2016245"/>
            <a:ext cx="32919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Detect six explainable indicators and preserve the matching evidence</a:t>
            </a:r>
            <a:endParaRPr sz="1300" b="0" i="0" u="none" cap="none">
              <a:solidFill>
                <a:schemeClr val="dk1"/>
              </a:solidFill>
              <a:latin typeface="Calibri"/>
              <a:ea typeface="Calibri"/>
              <a:cs typeface="Calibri"/>
            </a:endParaRPr>
          </a:p>
        </p:txBody>
      </p:sp>
      <p:sp>
        <p:nvSpPr>
          <p:cNvPr id="97" name="Google Shape;97;p6">
            <a:extLst xmlns:a="http://schemas.openxmlformats.org/drawingml/2006/main">
              <a:ext uri="{FF2B5EF4-FFF2-40B4-BE49-F238E27FC236}">
                <a16:creationId xmlns:a16="http://schemas.microsoft.com/office/drawing/2014/main" id="{C7D0BB93-29CF-4538-8473-7B2066CE712F}"/>
              </a:ext>
            </a:extLst>
          </p:cNvPr>
          <p:cNvSpPr>
            <a:spLocks xmlns:a="http://schemas.openxmlformats.org/drawingml/2006/main" noGrp="1"/>
          </p:cNvSpPr>
          <p:nvPr/>
        </p:nvSpPr>
        <p:spPr>
          <a:xfrm xmlns:a="http://schemas.openxmlformats.org/drawingml/2006/main">
            <a:off x="1234440" y="4160520"/>
            <a:ext cx="466344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8" name="Google Shape;98;p6">
            <a:extLst xmlns:a="http://schemas.openxmlformats.org/drawingml/2006/main">
              <a:ext uri="{FF2B5EF4-FFF2-40B4-BE49-F238E27FC236}">
                <a16:creationId xmlns:a16="http://schemas.microsoft.com/office/drawing/2014/main" id="{F24CF003-E911-47ED-9436-544E934EDDC9}"/>
              </a:ext>
            </a:extLst>
          </p:cNvPr>
          <p:cNvSpPr>
            <a:spLocks xmlns:a="http://schemas.openxmlformats.org/drawingml/2006/main" noGrp="1"/>
          </p:cNvSpPr>
          <p:nvPr/>
        </p:nvSpPr>
        <p:spPr>
          <a:xfrm xmlns:a="http://schemas.openxmlformats.org/drawingml/2006/main">
            <a:off x="1463040" y="43434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03</a:t>
            </a:r>
            <a:endParaRPr sz="4000" b="0" i="0" u="none" cap="none">
              <a:solidFill>
                <a:schemeClr val="dk1"/>
              </a:solidFill>
              <a:latin typeface="Calibri"/>
              <a:ea typeface="Calibri"/>
              <a:cs typeface="Calibri"/>
            </a:endParaRPr>
          </a:p>
        </p:txBody>
      </p:sp>
      <p:sp>
        <p:nvSpPr>
          <p:cNvPr id="99" name="Google Shape;99;p6">
            <a:extLst xmlns:a="http://schemas.openxmlformats.org/drawingml/2006/main">
              <a:ext uri="{FF2B5EF4-FFF2-40B4-BE49-F238E27FC236}">
                <a16:creationId xmlns:a16="http://schemas.microsoft.com/office/drawing/2014/main" id="{8F0B1A05-78B2-493A-95E4-50B1A685C807}"/>
              </a:ext>
            </a:extLst>
          </p:cNvPr>
          <p:cNvSpPr>
            <a:spLocks xmlns:a="http://schemas.openxmlformats.org/drawingml/2006/main" noGrp="1"/>
          </p:cNvSpPr>
          <p:nvPr/>
        </p:nvSpPr>
        <p:spPr>
          <a:xfrm xmlns:a="http://schemas.openxmlformats.org/drawingml/2006/main">
            <a:off x="2423160" y="4389120"/>
            <a:ext cx="3291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Correlate findings by source IP and calculate a transparent risk score</a:t>
            </a:r>
            <a:endParaRPr sz="1300" b="0" i="0" u="none" cap="none">
              <a:solidFill>
                <a:schemeClr val="dk1"/>
              </a:solidFill>
              <a:latin typeface="Calibri"/>
              <a:ea typeface="Calibri"/>
              <a:cs typeface="Calibri"/>
            </a:endParaRPr>
          </a:p>
        </p:txBody>
      </p:sp>
      <p:sp>
        <p:nvSpPr>
          <p:cNvPr id="100" name="Google Shape;100;p6">
            <a:extLst xmlns:a="http://schemas.openxmlformats.org/drawingml/2006/main">
              <a:ext uri="{FF2B5EF4-FFF2-40B4-BE49-F238E27FC236}">
                <a16:creationId xmlns:a16="http://schemas.microsoft.com/office/drawing/2014/main" id="{FB815E76-F59C-4E02-AE39-82B9F0264043}"/>
              </a:ext>
            </a:extLst>
          </p:cNvPr>
          <p:cNvSpPr>
            <a:spLocks xmlns:a="http://schemas.openxmlformats.org/drawingml/2006/main" noGrp="1"/>
          </p:cNvSpPr>
          <p:nvPr/>
        </p:nvSpPr>
        <p:spPr>
          <a:xfrm xmlns:a="http://schemas.openxmlformats.org/drawingml/2006/main">
            <a:off x="6355080" y="4160520"/>
            <a:ext cx="466344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01" name="Google Shape;101;p6">
            <a:extLst xmlns:a="http://schemas.openxmlformats.org/drawingml/2006/main">
              <a:ext uri="{FF2B5EF4-FFF2-40B4-BE49-F238E27FC236}">
                <a16:creationId xmlns:a16="http://schemas.microsoft.com/office/drawing/2014/main" id="{CE78EFAA-01D9-4159-AF6A-05A66662D9EF}"/>
              </a:ext>
            </a:extLst>
          </p:cNvPr>
          <p:cNvSpPr>
            <a:spLocks xmlns:a="http://schemas.openxmlformats.org/drawingml/2006/main" noGrp="1"/>
          </p:cNvSpPr>
          <p:nvPr/>
        </p:nvSpPr>
        <p:spPr>
          <a:xfrm xmlns:a="http://schemas.openxmlformats.org/drawingml/2006/main">
            <a:off x="6583680" y="43434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04</a:t>
            </a:r>
            <a:endParaRPr sz="4000" b="0" i="0" u="none" cap="none">
              <a:solidFill>
                <a:schemeClr val="dk1"/>
              </a:solidFill>
              <a:latin typeface="Calibri"/>
              <a:ea typeface="Calibri"/>
              <a:cs typeface="Calibri"/>
            </a:endParaRPr>
          </a:p>
        </p:txBody>
      </p:sp>
      <p:sp>
        <p:nvSpPr>
          <p:cNvPr id="102" name="Google Shape;102;p6">
            <a:extLst xmlns:a="http://schemas.openxmlformats.org/drawingml/2006/main">
              <a:ext uri="{FF2B5EF4-FFF2-40B4-BE49-F238E27FC236}">
                <a16:creationId xmlns:a16="http://schemas.microsoft.com/office/drawing/2014/main" id="{5A00F6CA-C65A-4A54-A7D5-656F5EE247D3}"/>
              </a:ext>
            </a:extLst>
          </p:cNvPr>
          <p:cNvSpPr>
            <a:spLocks xmlns:a="http://schemas.openxmlformats.org/drawingml/2006/main" noGrp="1"/>
          </p:cNvSpPr>
          <p:nvPr/>
        </p:nvSpPr>
        <p:spPr>
          <a:xfrm xmlns:a="http://schemas.openxmlformats.org/drawingml/2006/main">
            <a:off x="7543800" y="4389120"/>
            <a:ext cx="3291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Present severity, confidence, MITRE mapping, guidance, and JSON export</a:t>
            </a:r>
            <a:endParaRPr sz="1300" b="0" i="0" u="none" cap="none">
              <a:solidFill>
                <a:schemeClr val="dk1"/>
              </a:solidFill>
              <a:latin typeface="Calibri"/>
              <a:ea typeface="Calibri"/>
              <a:cs typeface="Calibri"/>
            </a:endParaRPr>
          </a:p>
        </p:txBody>
      </p:sp>
      <p:sp>
        <p:nvSpPr>
          <p:cNvPr id="103" name="Google Shape;103;p6">
            <a:extLst xmlns:a="http://schemas.openxmlformats.org/drawingml/2006/main">
              <a:ext uri="{FF2B5EF4-FFF2-40B4-BE49-F238E27FC236}">
                <a16:creationId xmlns:a16="http://schemas.microsoft.com/office/drawing/2014/main" id="{C81270FA-72AA-46C6-9FF3-BED4E5EF9BA0}"/>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04" name="Google Shape;104;p6">
            <a:extLst xmlns:a="http://schemas.openxmlformats.org/drawingml/2006/main">
              <a:ext uri="{FF2B5EF4-FFF2-40B4-BE49-F238E27FC236}">
                <a16:creationId xmlns:a16="http://schemas.microsoft.com/office/drawing/2014/main" id="{DBE1452F-FE01-49A2-80D1-4BA75CF230F8}"/>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4</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008813140"/>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0" name="Google Shape;110;p7">
            <a:extLst xmlns:a="http://schemas.openxmlformats.org/drawingml/2006/main">
              <a:ext uri="{FF2B5EF4-FFF2-40B4-BE49-F238E27FC236}">
                <a16:creationId xmlns:a16="http://schemas.microsoft.com/office/drawing/2014/main" id="{752B2812-547F-4E12-8B15-700807A34424}"/>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1" name="Google Shape;111;p7">
            <a:extLst xmlns:a="http://schemas.openxmlformats.org/drawingml/2006/main">
              <a:ext uri="{FF2B5EF4-FFF2-40B4-BE49-F238E27FC236}">
                <a16:creationId xmlns:a16="http://schemas.microsoft.com/office/drawing/2014/main" id="{D0AEF50D-625D-4F45-982D-C0D189ADECD0}"/>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2" name="Google Shape;112;p7">
            <a:extLst xmlns:a="http://schemas.openxmlformats.org/drawingml/2006/main">
              <a:ext uri="{FF2B5EF4-FFF2-40B4-BE49-F238E27FC236}">
                <a16:creationId xmlns:a16="http://schemas.microsoft.com/office/drawing/2014/main" id="{B9F77B83-9898-4B00-BD1C-25CA4C3364D9}"/>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04</a:t>
            </a:r>
            <a:endParaRPr sz="1600" b="0" i="0" u="none" cap="none">
              <a:solidFill>
                <a:schemeClr val="dk1"/>
              </a:solidFill>
              <a:latin typeface="Calibri"/>
              <a:ea typeface="Calibri"/>
              <a:cs typeface="Calibri"/>
            </a:endParaRPr>
          </a:p>
        </p:txBody>
      </p:sp>
      <p:sp>
        <p:nvSpPr>
          <p:cNvPr id="113" name="Google Shape;113;p7">
            <a:extLst xmlns:a="http://schemas.openxmlformats.org/drawingml/2006/main">
              <a:ext uri="{FF2B5EF4-FFF2-40B4-BE49-F238E27FC236}">
                <a16:creationId xmlns:a16="http://schemas.microsoft.com/office/drawing/2014/main" id="{8A3D52C2-35D1-44CD-9D57-A232922C7379}"/>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04</a:t>
            </a:r>
            <a:endParaRPr sz="1100" b="0" i="0" u="none" cap="none">
              <a:solidFill>
                <a:schemeClr val="dk1"/>
              </a:solidFill>
              <a:latin typeface="Calibri"/>
              <a:ea typeface="Calibri"/>
              <a:cs typeface="Calibri"/>
            </a:endParaRPr>
          </a:p>
        </p:txBody>
      </p:sp>
      <p:sp>
        <p:nvSpPr>
          <p:cNvPr id="114" name="Google Shape;114;p7">
            <a:extLst xmlns:a="http://schemas.openxmlformats.org/drawingml/2006/main">
              <a:ext uri="{FF2B5EF4-FFF2-40B4-BE49-F238E27FC236}">
                <a16:creationId xmlns:a16="http://schemas.microsoft.com/office/drawing/2014/main" id="{954670A4-48DB-4373-B1DE-A573BEECBC06}"/>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Technology Stack</a:t>
            </a:r>
            <a:endParaRPr sz="3000" b="0" i="0" u="none" cap="none">
              <a:solidFill>
                <a:schemeClr val="dk1"/>
              </a:solidFill>
              <a:latin typeface="Calibri"/>
              <a:ea typeface="Calibri"/>
              <a:cs typeface="Calibri"/>
            </a:endParaRPr>
          </a:p>
        </p:txBody>
      </p:sp>
      <p:sp>
        <p:nvSpPr>
          <p:cNvPr id="115" name="Google Shape;115;p7">
            <a:extLst xmlns:a="http://schemas.openxmlformats.org/drawingml/2006/main">
              <a:ext uri="{FF2B5EF4-FFF2-40B4-BE49-F238E27FC236}">
                <a16:creationId xmlns:a16="http://schemas.microsoft.com/office/drawing/2014/main" id="{EFAAD370-C6B3-4839-8A7D-017AE227D7B4}"/>
              </a:ext>
            </a:extLst>
          </p:cNvPr>
          <p:cNvSpPr>
            <a:spLocks xmlns:a="http://schemas.openxmlformats.org/drawingml/2006/main" noGrp="1"/>
          </p:cNvSpPr>
          <p:nvPr/>
        </p:nvSpPr>
        <p:spPr>
          <a:xfrm xmlns:a="http://schemas.openxmlformats.org/drawingml/2006/main">
            <a:off x="1234475" y="1543875"/>
            <a:ext cx="9849000" cy="444540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Backend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Python 3 standard library</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Local HTTP server, parsing, rule engine, correlation, SHA-256 analysis ID, JSON API</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Frontend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HTML, CSS, JavaScript</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Local dashboard, explainable timeline, JSON download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Deployment</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Runs at 127.0.0.1</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No cloud API, database, scanner, or external log upload required</a:t>
            </a:r>
            <a:endParaRPr sz="1400" b="0" i="0" u="none" cap="none">
              <a:solidFill>
                <a:srgbClr val="000000"/>
              </a:solidFill>
              <a:latin typeface="Arial"/>
              <a:ea typeface="Arial"/>
              <a:cs typeface="Arial"/>
            </a:endParaRPr>
          </a:p>
        </p:txBody>
      </p:sp>
      <p:sp>
        <p:nvSpPr>
          <p:cNvPr id="116" name="Google Shape;116;p7">
            <a:extLst xmlns:a="http://schemas.openxmlformats.org/drawingml/2006/main">
              <a:ext uri="{FF2B5EF4-FFF2-40B4-BE49-F238E27FC236}">
                <a16:creationId xmlns:a16="http://schemas.microsoft.com/office/drawing/2014/main" id="{C9D7AA6C-7043-4ECA-A2FD-71EA578E570A}"/>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17" name="Google Shape;117;p7">
            <a:extLst xmlns:a="http://schemas.openxmlformats.org/drawingml/2006/main">
              <a:ext uri="{FF2B5EF4-FFF2-40B4-BE49-F238E27FC236}">
                <a16:creationId xmlns:a16="http://schemas.microsoft.com/office/drawing/2014/main" id="{DD774CD5-70EE-4C6F-8518-A2E02922FE6D}"/>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5</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85394979"/>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3" name="Google Shape;123;p8">
            <a:extLst xmlns:a="http://schemas.openxmlformats.org/drawingml/2006/main">
              <a:ext uri="{FF2B5EF4-FFF2-40B4-BE49-F238E27FC236}">
                <a16:creationId xmlns:a16="http://schemas.microsoft.com/office/drawing/2014/main" id="{BFE8C9EC-EBA1-4567-8F2B-1DA6E233A353}"/>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4" name="Google Shape;124;p8">
            <a:extLst xmlns:a="http://schemas.openxmlformats.org/drawingml/2006/main">
              <a:ext uri="{FF2B5EF4-FFF2-40B4-BE49-F238E27FC236}">
                <a16:creationId xmlns:a16="http://schemas.microsoft.com/office/drawing/2014/main" id="{3AFF61FB-DA33-4D3D-B638-F5C5A38376FC}"/>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5" name="Google Shape;125;p8">
            <a:extLst xmlns:a="http://schemas.openxmlformats.org/drawingml/2006/main">
              <a:ext uri="{FF2B5EF4-FFF2-40B4-BE49-F238E27FC236}">
                <a16:creationId xmlns:a16="http://schemas.microsoft.com/office/drawing/2014/main" id="{40C42155-1486-4EA2-8420-BE7ECEC49568}"/>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6" name="Google Shape;126;p8">
            <a:extLst xmlns:a="http://schemas.openxmlformats.org/drawingml/2006/main">
              <a:ext uri="{FF2B5EF4-FFF2-40B4-BE49-F238E27FC236}">
                <a16:creationId xmlns:a16="http://schemas.microsoft.com/office/drawing/2014/main" id="{45515062-0677-4F12-8712-C2EC5F66723A}"/>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05</a:t>
            </a:r>
            <a:endParaRPr sz="1600" b="0" i="0" u="none" cap="none">
              <a:solidFill>
                <a:schemeClr val="dk1"/>
              </a:solidFill>
              <a:latin typeface="Calibri"/>
              <a:ea typeface="Calibri"/>
              <a:cs typeface="Calibri"/>
            </a:endParaRPr>
          </a:p>
        </p:txBody>
      </p:sp>
      <p:sp>
        <p:nvSpPr>
          <p:cNvPr id="127" name="Google Shape;127;p8">
            <a:extLst xmlns:a="http://schemas.openxmlformats.org/drawingml/2006/main">
              <a:ext uri="{FF2B5EF4-FFF2-40B4-BE49-F238E27FC236}">
                <a16:creationId xmlns:a16="http://schemas.microsoft.com/office/drawing/2014/main" id="{1EC9AA2C-59A3-4123-881F-29632ABC5010}"/>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05</a:t>
            </a:r>
            <a:endParaRPr sz="1100" b="0" i="0" u="none" cap="none">
              <a:solidFill>
                <a:schemeClr val="dk1"/>
              </a:solidFill>
              <a:latin typeface="Calibri"/>
              <a:ea typeface="Calibri"/>
              <a:cs typeface="Calibri"/>
            </a:endParaRPr>
          </a:p>
        </p:txBody>
      </p:sp>
      <p:sp>
        <p:nvSpPr>
          <p:cNvPr id="128" name="Google Shape;128;p8">
            <a:extLst xmlns:a="http://schemas.openxmlformats.org/drawingml/2006/main">
              <a:ext uri="{FF2B5EF4-FFF2-40B4-BE49-F238E27FC236}">
                <a16:creationId xmlns:a16="http://schemas.microsoft.com/office/drawing/2014/main" id="{33A7DE43-D1B2-4AFC-B161-779F85A83DAD}"/>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Literature Survey</a:t>
            </a:r>
            <a:endParaRPr sz="3000" b="0" i="0" u="none" cap="none">
              <a:solidFill>
                <a:schemeClr val="dk1"/>
              </a:solidFill>
              <a:latin typeface="Calibri"/>
              <a:ea typeface="Calibri"/>
              <a:cs typeface="Calibri"/>
            </a:endParaRPr>
          </a:p>
        </p:txBody>
      </p:sp>
      <p:graphicFrame>
        <p:nvGraphicFramePr>
          <p:cNvPr id="139" name="Google Shape;129;p8"/>
          <p:cNvGraphicFramePr/>
          <p:nvPr/>
        </p:nvGraphicFramePr>
        <p:xfrm>
          <a:off xmlns:a="http://schemas.openxmlformats.org/drawingml/2006/main" x="1234440" y="1600210"/>
          <a:ext xmlns:a="http://schemas.openxmlformats.org/drawingml/2006/main" cx="3000000" cy="3000000"/>
        </p:xfrm>
        <a:graphic xmlns:a="http://schemas.openxmlformats.org/drawingml/2006/main">
          <a:graphicData uri="http://schemas.openxmlformats.org/drawingml/2006/table">
            <a:tbl>
              <a:tblPr>
                <a:tableStyleId>{DACFCA41-7221-4674-B144-DCA2F1B7582E}</a:tableStyleId>
              </a:tblPr>
              <a:tblGrid>
                <a:gridCol w="731525"/>
                <a:gridCol w="2743200"/>
                <a:gridCol w="2011675"/>
                <a:gridCol w="1737350"/>
                <a:gridCol w="2468875"/>
              </a:tblGrid>
              <a:tr h="804675">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S.No</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Source</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Year</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Focus</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Project Use</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1</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NIST SP 800-92</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2006</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Security log management</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Frames collection and review</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2</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OWASP Logging Cheat Sheet</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Application logging</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Guides secure evidence handling</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3</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MITRE ATT and CK</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Adversary techniques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Maps rule findings to techniques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4</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OWASP SQL Injection Prevention</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Input validation</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Sets limits on SQL indicator claims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bl>
          </a:graphicData>
        </a:graphic>
      </p:graphicFrame>
      <p:sp>
        <p:nvSpPr>
          <p:cNvPr id="130" name="Google Shape;130;p8">
            <a:extLst xmlns:a="http://schemas.openxmlformats.org/drawingml/2006/main">
              <a:ext uri="{FF2B5EF4-FFF2-40B4-BE49-F238E27FC236}">
                <a16:creationId xmlns:a16="http://schemas.microsoft.com/office/drawing/2014/main" id="{0D4A5C99-9312-4634-A236-7A204E060161}"/>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31" name="Google Shape;131;p8">
            <a:extLst xmlns:a="http://schemas.openxmlformats.org/drawingml/2006/main">
              <a:ext uri="{FF2B5EF4-FFF2-40B4-BE49-F238E27FC236}">
                <a16:creationId xmlns:a16="http://schemas.microsoft.com/office/drawing/2014/main" id="{36C2BA08-7C87-4F4E-89B7-548E556EE757}"/>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6</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133256944"/>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7" name="Google Shape;137;p9">
            <a:extLst xmlns:a="http://schemas.openxmlformats.org/drawingml/2006/main">
              <a:ext uri="{FF2B5EF4-FFF2-40B4-BE49-F238E27FC236}">
                <a16:creationId xmlns:a16="http://schemas.microsoft.com/office/drawing/2014/main" id="{55B9EA2F-A5E4-47AF-8513-AAB9251C41CD}"/>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38" name="Google Shape;138;p9">
            <a:extLst xmlns:a="http://schemas.openxmlformats.org/drawingml/2006/main">
              <a:ext uri="{FF2B5EF4-FFF2-40B4-BE49-F238E27FC236}">
                <a16:creationId xmlns:a16="http://schemas.microsoft.com/office/drawing/2014/main" id="{394D30E3-0C8E-4C22-9A31-21E58923C994}"/>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39" name="Google Shape;139;p9">
            <a:extLst xmlns:a="http://schemas.openxmlformats.org/drawingml/2006/main">
              <a:ext uri="{FF2B5EF4-FFF2-40B4-BE49-F238E27FC236}">
                <a16:creationId xmlns:a16="http://schemas.microsoft.com/office/drawing/2014/main" id="{9118F3C8-C368-469E-8F4B-542DBAB03AFC}"/>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40" name="Google Shape;140;p9">
            <a:extLst xmlns:a="http://schemas.openxmlformats.org/drawingml/2006/main">
              <a:ext uri="{FF2B5EF4-FFF2-40B4-BE49-F238E27FC236}">
                <a16:creationId xmlns:a16="http://schemas.microsoft.com/office/drawing/2014/main" id="{35FCE261-7B89-4204-8690-87C59B3A28C6}"/>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06</a:t>
            </a:r>
            <a:endParaRPr sz="1600" b="0" i="0" u="none" cap="none">
              <a:solidFill>
                <a:schemeClr val="dk1"/>
              </a:solidFill>
              <a:latin typeface="Calibri"/>
              <a:ea typeface="Calibri"/>
              <a:cs typeface="Calibri"/>
            </a:endParaRPr>
          </a:p>
        </p:txBody>
      </p:sp>
      <p:sp>
        <p:nvSpPr>
          <p:cNvPr id="141" name="Google Shape;141;p9">
            <a:extLst xmlns:a="http://schemas.openxmlformats.org/drawingml/2006/main">
              <a:ext uri="{FF2B5EF4-FFF2-40B4-BE49-F238E27FC236}">
                <a16:creationId xmlns:a16="http://schemas.microsoft.com/office/drawing/2014/main" id="{71932ECC-7C5B-42DF-A794-4194767BA182}"/>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06</a:t>
            </a:r>
            <a:endParaRPr sz="1100" b="0" i="0" u="none" cap="none">
              <a:solidFill>
                <a:schemeClr val="dk1"/>
              </a:solidFill>
              <a:latin typeface="Calibri"/>
              <a:ea typeface="Calibri"/>
              <a:cs typeface="Calibri"/>
            </a:endParaRPr>
          </a:p>
        </p:txBody>
      </p:sp>
      <p:sp>
        <p:nvSpPr>
          <p:cNvPr id="142" name="Google Shape;142;p9">
            <a:extLst xmlns:a="http://schemas.openxmlformats.org/drawingml/2006/main">
              <a:ext uri="{FF2B5EF4-FFF2-40B4-BE49-F238E27FC236}">
                <a16:creationId xmlns:a16="http://schemas.microsoft.com/office/drawing/2014/main" id="{A896CBF8-8ECF-4707-9D08-2477626E1319}"/>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System Workflow and Architecture</a:t>
            </a:r>
            <a:endParaRPr sz="3000" b="0" i="0" u="none" cap="none">
              <a:solidFill>
                <a:schemeClr val="dk1"/>
              </a:solidFill>
              <a:latin typeface="Calibri"/>
              <a:ea typeface="Calibri"/>
              <a:cs typeface="Calibri"/>
            </a:endParaRPr>
          </a:p>
        </p:txBody>
      </p:sp>
      <p:sp>
        <p:nvSpPr>
          <p:cNvPr id="143" name="Google Shape;143;p9">
            <a:extLst xmlns:a="http://schemas.openxmlformats.org/drawingml/2006/main">
              <a:ext uri="{FF2B5EF4-FFF2-40B4-BE49-F238E27FC236}">
                <a16:creationId xmlns:a16="http://schemas.microsoft.com/office/drawing/2014/main" id="{DB13704E-1449-482B-9FD5-9A7D339D743E}"/>
              </a:ext>
            </a:extLst>
          </p:cNvPr>
          <p:cNvSpPr>
            <a:spLocks xmlns:a="http://schemas.openxmlformats.org/drawingml/2006/main" noGrp="1"/>
          </p:cNvSpPr>
          <p:nvPr/>
        </p:nvSpPr>
        <p:spPr>
          <a:xfrm xmlns:a="http://schemas.openxmlformats.org/drawingml/2006/main">
            <a:off x="1234450" y="1600200"/>
            <a:ext cx="9692700" cy="4585200"/>
          </a:xfrm>
          <a:prstGeom xmlns:a="http://schemas.openxmlformats.org/drawingml/2006/main" prst="roundRect">
            <a:avLst>
              <a:gd name="adj" fmla="val 2198"/>
            </a:avLst>
          </a:prstGeom>
          <a:solidFill xmlns:a="http://schemas.openxmlformats.org/drawingml/2006/main">
            <a:srgbClr val="FFFFFF"/>
          </a:solidFill>
          <a:ln xmlns:a="http://schemas.openxmlformats.org/drawingml/2006/main" w="15875" cmpd="sng">
            <a:solidFill>
              <a:srgbClr val="DEE4EF"/>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44" name="Google Shape;144;p9">
            <a:extLst xmlns:a="http://schemas.openxmlformats.org/drawingml/2006/main">
              <a:ext uri="{FF2B5EF4-FFF2-40B4-BE49-F238E27FC236}">
                <a16:creationId xmlns:a16="http://schemas.microsoft.com/office/drawing/2014/main" id="{865B40A9-314A-4758-95DC-5EFA77399DC7}"/>
              </a:ext>
            </a:extLst>
          </p:cNvPr>
          <p:cNvSpPr>
            <a:spLocks xmlns:a="http://schemas.openxmlformats.org/drawingml/2006/main" noGrp="1"/>
          </p:cNvSpPr>
          <p:nvPr/>
        </p:nvSpPr>
        <p:spPr>
          <a:xfrm xmlns:a="http://schemas.openxmlformats.org/drawingml/2006/main">
            <a:off x="1828800" y="2551422"/>
            <a:ext cx="8503800" cy="24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B7593"/>
              </a:buClr>
              <a:buSzPts val="1600"/>
              <a:buFont typeface="Calibri"/>
              <a:buNone/>
            </a:pPr>
            <a:r>
              <a:rPr sz="1800" b="0" i="1" u="none" cap="none">
                <a:solidFill>
                  <a:srgbClr val="6B7593"/>
                </a:solidFill>
                <a:latin typeface="Calibri"/>
                <a:ea typeface="Calibri"/>
                <a:cs typeface="Calibri"/>
              </a:rPr>
              <a:t>Authorised web and SSH logs</a:t>
            </a:r>
            <a:endParaRPr sz="1350" b="0" i="0" u="none" cap="none">
              <a:solidFill>
                <a:schemeClr val="dk1"/>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Parser and normaliser</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Explainable rule catalogue</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Brute force, login after failures, traversal, SQL indicators, command indicators, web scanning</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Correlation and risk scoring by source IP</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Dashboard timeline and JSON incident report</a:t>
            </a:r>
            <a:endParaRPr sz="1800" b="0" i="1" u="none" cap="none">
              <a:solidFill>
                <a:srgbClr val="6B7593"/>
              </a:solidFill>
              <a:latin typeface="Calibri"/>
              <a:ea typeface="Calibri"/>
              <a:cs typeface="Calibri"/>
            </a:endParaRPr>
          </a:p>
        </p:txBody>
      </p:sp>
      <p:sp>
        <p:nvSpPr>
          <p:cNvPr id="145" name="Google Shape;145;p9">
            <a:extLst xmlns:a="http://schemas.openxmlformats.org/drawingml/2006/main">
              <a:ext uri="{FF2B5EF4-FFF2-40B4-BE49-F238E27FC236}">
                <a16:creationId xmlns:a16="http://schemas.microsoft.com/office/drawing/2014/main" id="{5974AABE-F166-4F84-AE43-D7442EDE183F}"/>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46" name="Google Shape;146;p9">
            <a:extLst xmlns:a="http://schemas.openxmlformats.org/drawingml/2006/main">
              <a:ext uri="{FF2B5EF4-FFF2-40B4-BE49-F238E27FC236}">
                <a16:creationId xmlns:a16="http://schemas.microsoft.com/office/drawing/2014/main" id="{02F865A4-5DE8-40B7-964D-225D8B2F16EF}"/>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7</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497097899"/>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52" name="Google Shape;152;p10">
            <a:extLst xmlns:a="http://schemas.openxmlformats.org/drawingml/2006/main">
              <a:ext uri="{FF2B5EF4-FFF2-40B4-BE49-F238E27FC236}">
                <a16:creationId xmlns:a16="http://schemas.microsoft.com/office/drawing/2014/main" id="{DC00C841-3B1F-4B98-B586-785AE2C1B725}"/>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3" name="Google Shape;153;p10">
            <a:extLst xmlns:a="http://schemas.openxmlformats.org/drawingml/2006/main">
              <a:ext uri="{FF2B5EF4-FFF2-40B4-BE49-F238E27FC236}">
                <a16:creationId xmlns:a16="http://schemas.microsoft.com/office/drawing/2014/main" id="{C49873C5-9FFD-497C-8A65-EDA8BA205A93}"/>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4" name="Google Shape;154;p10">
            <a:extLst xmlns:a="http://schemas.openxmlformats.org/drawingml/2006/main">
              <a:ext uri="{FF2B5EF4-FFF2-40B4-BE49-F238E27FC236}">
                <a16:creationId xmlns:a16="http://schemas.microsoft.com/office/drawing/2014/main" id="{B16E4D06-0151-4F9B-8315-CD468F5FC6E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5" name="Google Shape;155;p10">
            <a:extLst xmlns:a="http://schemas.openxmlformats.org/drawingml/2006/main">
              <a:ext uri="{FF2B5EF4-FFF2-40B4-BE49-F238E27FC236}">
                <a16:creationId xmlns:a16="http://schemas.microsoft.com/office/drawing/2014/main" id="{454239E7-416F-4B36-9954-FB4C8E3E8FA3}"/>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07</a:t>
            </a:r>
            <a:endParaRPr sz="1600" b="0" i="0" u="none" cap="none">
              <a:solidFill>
                <a:schemeClr val="dk1"/>
              </a:solidFill>
              <a:latin typeface="Calibri"/>
              <a:ea typeface="Calibri"/>
              <a:cs typeface="Calibri"/>
            </a:endParaRPr>
          </a:p>
        </p:txBody>
      </p:sp>
      <p:sp>
        <p:nvSpPr>
          <p:cNvPr id="156" name="Google Shape;156;p10">
            <a:extLst xmlns:a="http://schemas.openxmlformats.org/drawingml/2006/main">
              <a:ext uri="{FF2B5EF4-FFF2-40B4-BE49-F238E27FC236}">
                <a16:creationId xmlns:a16="http://schemas.microsoft.com/office/drawing/2014/main" id="{E3FA6D8F-8BC7-41FB-98FD-0902A30CF7E2}"/>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07</a:t>
            </a:r>
            <a:endParaRPr sz="1100" b="0" i="0" u="none" cap="none">
              <a:solidFill>
                <a:schemeClr val="dk1"/>
              </a:solidFill>
              <a:latin typeface="Calibri"/>
              <a:ea typeface="Calibri"/>
              <a:cs typeface="Calibri"/>
            </a:endParaRPr>
          </a:p>
        </p:txBody>
      </p:sp>
      <p:sp>
        <p:nvSpPr>
          <p:cNvPr id="157" name="Google Shape;157;p10">
            <a:extLst xmlns:a="http://schemas.openxmlformats.org/drawingml/2006/main">
              <a:ext uri="{FF2B5EF4-FFF2-40B4-BE49-F238E27FC236}">
                <a16:creationId xmlns:a16="http://schemas.microsoft.com/office/drawing/2014/main" id="{F3DBAAC4-A539-4235-B4BB-0916FBF7D1F9}"/>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Expected Outcome</a:t>
            </a:r>
            <a:endParaRPr sz="3000" b="0" i="0" u="none" cap="none">
              <a:solidFill>
                <a:schemeClr val="dk1"/>
              </a:solidFill>
              <a:latin typeface="Calibri"/>
              <a:ea typeface="Calibri"/>
              <a:cs typeface="Calibri"/>
            </a:endParaRPr>
          </a:p>
        </p:txBody>
      </p:sp>
      <p:sp>
        <p:nvSpPr>
          <p:cNvPr id="158" name="Google Shape;158;p10">
            <a:extLst xmlns:a="http://schemas.openxmlformats.org/drawingml/2006/main">
              <a:ext uri="{FF2B5EF4-FFF2-40B4-BE49-F238E27FC236}">
                <a16:creationId xmlns:a16="http://schemas.microsoft.com/office/drawing/2014/main" id="{34D64FB7-41A0-4FCC-87DF-04160B23D011}"/>
              </a:ext>
            </a:extLst>
          </p:cNvPr>
          <p:cNvSpPr>
            <a:spLocks xmlns:a="http://schemas.openxmlformats.org/drawingml/2006/main" noGrp="1"/>
          </p:cNvSpPr>
          <p:nvPr/>
        </p:nvSpPr>
        <p:spPr>
          <a:xfrm xmlns:a="http://schemas.openxmlformats.org/drawingml/2006/main">
            <a:off x="1249640" y="160019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9" name="Google Shape;159;p10">
            <a:extLst xmlns:a="http://schemas.openxmlformats.org/drawingml/2006/main">
              <a:ext uri="{FF2B5EF4-FFF2-40B4-BE49-F238E27FC236}">
                <a16:creationId xmlns:a16="http://schemas.microsoft.com/office/drawing/2014/main" id="{25AC8D59-7B75-4087-A463-BCB6716411ED}"/>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0" name="Google Shape;160;p10">
            <a:extLst xmlns:a="http://schemas.openxmlformats.org/drawingml/2006/main">
              <a:ext uri="{FF2B5EF4-FFF2-40B4-BE49-F238E27FC236}">
                <a16:creationId xmlns:a16="http://schemas.microsoft.com/office/drawing/2014/main" id="{26B173C8-9322-41CD-BEEA-890F1B43C96B}"/>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1" name="Google Shape;161;p10">
            <a:extLst xmlns:a="http://schemas.openxmlformats.org/drawingml/2006/main">
              <a:ext uri="{FF2B5EF4-FFF2-40B4-BE49-F238E27FC236}">
                <a16:creationId xmlns:a16="http://schemas.microsoft.com/office/drawing/2014/main" id="{9683F83F-9B09-4343-9D81-890BAA63DF95}"/>
              </a:ext>
            </a:extLst>
          </p:cNvPr>
          <p:cNvSpPr>
            <a:spLocks xmlns:a="http://schemas.openxmlformats.org/drawingml/2006/main" noGrp="1"/>
          </p:cNvSpPr>
          <p:nvPr/>
        </p:nvSpPr>
        <p:spPr>
          <a:xfrm xmlns:a="http://schemas.openxmlformats.org/drawingml/2006/main">
            <a:off x="2072600" y="160019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Detect six selected indicators from authorised or synthetic log data</a:t>
            </a:r>
            <a:endParaRPr sz="1400" b="0" i="0" u="none" cap="none">
              <a:solidFill>
                <a:schemeClr val="dk1"/>
              </a:solidFill>
              <a:latin typeface="Calibri"/>
              <a:ea typeface="Calibri"/>
              <a:cs typeface="Calibri"/>
            </a:endParaRPr>
          </a:p>
        </p:txBody>
      </p:sp>
      <p:sp>
        <p:nvSpPr>
          <p:cNvPr id="162" name="Google Shape;162;p10">
            <a:extLst xmlns:a="http://schemas.openxmlformats.org/drawingml/2006/main">
              <a:ext uri="{FF2B5EF4-FFF2-40B4-BE49-F238E27FC236}">
                <a16:creationId xmlns:a16="http://schemas.microsoft.com/office/drawing/2014/main" id="{B08D1DFC-A367-457E-A0F2-BE19DDA3DC0E}"/>
              </a:ext>
            </a:extLst>
          </p:cNvPr>
          <p:cNvSpPr>
            <a:spLocks xmlns:a="http://schemas.openxmlformats.org/drawingml/2006/main" noGrp="1"/>
          </p:cNvSpPr>
          <p:nvPr/>
        </p:nvSpPr>
        <p:spPr>
          <a:xfrm xmlns:a="http://schemas.openxmlformats.org/drawingml/2006/main">
            <a:off x="1249640" y="256031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3" name="Google Shape;163;p10">
            <a:extLst xmlns:a="http://schemas.openxmlformats.org/drawingml/2006/main">
              <a:ext uri="{FF2B5EF4-FFF2-40B4-BE49-F238E27FC236}">
                <a16:creationId xmlns:a16="http://schemas.microsoft.com/office/drawing/2014/main" id="{AEFD2D87-AFB7-4CF7-9399-276DE90D3E56}"/>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4" name="Google Shape;164;p10">
            <a:extLst xmlns:a="http://schemas.openxmlformats.org/drawingml/2006/main">
              <a:ext uri="{FF2B5EF4-FFF2-40B4-BE49-F238E27FC236}">
                <a16:creationId xmlns:a16="http://schemas.microsoft.com/office/drawing/2014/main" id="{28D4825B-04C3-46C3-A068-9B7B8C1F1A6F}"/>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5" name="Google Shape;165;p10">
            <a:extLst xmlns:a="http://schemas.openxmlformats.org/drawingml/2006/main">
              <a:ext uri="{FF2B5EF4-FFF2-40B4-BE49-F238E27FC236}">
                <a16:creationId xmlns:a16="http://schemas.microsoft.com/office/drawing/2014/main" id="{F6C0576A-0D04-43E2-AEE9-A8953633E42A}"/>
              </a:ext>
            </a:extLst>
          </p:cNvPr>
          <p:cNvSpPr>
            <a:spLocks xmlns:a="http://schemas.openxmlformats.org/drawingml/2006/main" noGrp="1"/>
          </p:cNvSpPr>
          <p:nvPr/>
        </p:nvSpPr>
        <p:spPr>
          <a:xfrm xmlns:a="http://schemas.openxmlformats.org/drawingml/2006/main">
            <a:off x="2072600" y="256031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Prioritise entities with a transparent capped risk score</a:t>
            </a:r>
            <a:endParaRPr sz="1400" b="0" i="0" u="none" cap="none">
              <a:solidFill>
                <a:schemeClr val="dk1"/>
              </a:solidFill>
              <a:latin typeface="Calibri"/>
              <a:ea typeface="Calibri"/>
              <a:cs typeface="Calibri"/>
            </a:endParaRPr>
          </a:p>
        </p:txBody>
      </p:sp>
      <p:sp>
        <p:nvSpPr>
          <p:cNvPr id="166" name="Google Shape;166;p10">
            <a:extLst xmlns:a="http://schemas.openxmlformats.org/drawingml/2006/main">
              <a:ext uri="{FF2B5EF4-FFF2-40B4-BE49-F238E27FC236}">
                <a16:creationId xmlns:a16="http://schemas.microsoft.com/office/drawing/2014/main" id="{974349A7-69A1-4EE6-B5D5-A2EBAB5C4A85}"/>
              </a:ext>
            </a:extLst>
          </p:cNvPr>
          <p:cNvSpPr>
            <a:spLocks xmlns:a="http://schemas.openxmlformats.org/drawingml/2006/main" noGrp="1"/>
          </p:cNvSpPr>
          <p:nvPr/>
        </p:nvSpPr>
        <p:spPr>
          <a:xfrm xmlns:a="http://schemas.openxmlformats.org/drawingml/2006/main">
            <a:off x="1249640" y="352043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7" name="Google Shape;167;p10">
            <a:extLst xmlns:a="http://schemas.openxmlformats.org/drawingml/2006/main">
              <a:ext uri="{FF2B5EF4-FFF2-40B4-BE49-F238E27FC236}">
                <a16:creationId xmlns:a16="http://schemas.microsoft.com/office/drawing/2014/main" id="{9A9EC36B-6264-4A1F-A06A-E72ED9846DF1}"/>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8" name="Google Shape;168;p10">
            <a:extLst xmlns:a="http://schemas.openxmlformats.org/drawingml/2006/main">
              <a:ext uri="{FF2B5EF4-FFF2-40B4-BE49-F238E27FC236}">
                <a16:creationId xmlns:a16="http://schemas.microsoft.com/office/drawing/2014/main" id="{7F1F14DD-71F1-46E4-9F3E-547D25A17021}"/>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9" name="Google Shape;169;p10">
            <a:extLst xmlns:a="http://schemas.openxmlformats.org/drawingml/2006/main">
              <a:ext uri="{FF2B5EF4-FFF2-40B4-BE49-F238E27FC236}">
                <a16:creationId xmlns:a16="http://schemas.microsoft.com/office/drawing/2014/main" id="{80254342-84CB-4828-8A43-CA8F489CE1CD}"/>
              </a:ext>
            </a:extLst>
          </p:cNvPr>
          <p:cNvSpPr>
            <a:spLocks xmlns:a="http://schemas.openxmlformats.org/drawingml/2006/main" noGrp="1"/>
          </p:cNvSpPr>
          <p:nvPr/>
        </p:nvSpPr>
        <p:spPr>
          <a:xfrm xmlns:a="http://schemas.openxmlformats.org/drawingml/2006/main">
            <a:off x="2072600" y="352043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Explain each finding with evidence, confidence, MITRE mapping, and next action</a:t>
            </a:r>
            <a:endParaRPr sz="1400" b="0" i="0" u="none" cap="none">
              <a:solidFill>
                <a:schemeClr val="dk1"/>
              </a:solidFill>
              <a:latin typeface="Calibri"/>
              <a:ea typeface="Calibri"/>
              <a:cs typeface="Calibri"/>
            </a:endParaRPr>
          </a:p>
        </p:txBody>
      </p:sp>
      <p:sp>
        <p:nvSpPr>
          <p:cNvPr id="170" name="Google Shape;170;p10">
            <a:extLst xmlns:a="http://schemas.openxmlformats.org/drawingml/2006/main">
              <a:ext uri="{FF2B5EF4-FFF2-40B4-BE49-F238E27FC236}">
                <a16:creationId xmlns:a16="http://schemas.microsoft.com/office/drawing/2014/main" id="{0AB2DD47-DA41-495C-885A-F7957C55C03C}"/>
              </a:ext>
            </a:extLst>
          </p:cNvPr>
          <p:cNvSpPr>
            <a:spLocks xmlns:a="http://schemas.openxmlformats.org/drawingml/2006/main" noGrp="1"/>
          </p:cNvSpPr>
          <p:nvPr/>
        </p:nvSpPr>
        <p:spPr>
          <a:xfrm xmlns:a="http://schemas.openxmlformats.org/drawingml/2006/main">
            <a:off x="1249640" y="448055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1" name="Google Shape;171;p10">
            <a:extLst xmlns:a="http://schemas.openxmlformats.org/drawingml/2006/main">
              <a:ext uri="{FF2B5EF4-FFF2-40B4-BE49-F238E27FC236}">
                <a16:creationId xmlns:a16="http://schemas.microsoft.com/office/drawing/2014/main" id="{10F0F407-8DD5-45DD-A44F-4D8FF4AEA980}"/>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2" name="Google Shape;172;p10">
            <a:extLst xmlns:a="http://schemas.openxmlformats.org/drawingml/2006/main">
              <a:ext uri="{FF2B5EF4-FFF2-40B4-BE49-F238E27FC236}">
                <a16:creationId xmlns:a16="http://schemas.microsoft.com/office/drawing/2014/main" id="{076151EB-E462-41A6-A3E4-7D069C1EE868}"/>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73" name="Google Shape;173;p10">
            <a:extLst xmlns:a="http://schemas.openxmlformats.org/drawingml/2006/main">
              <a:ext uri="{FF2B5EF4-FFF2-40B4-BE49-F238E27FC236}">
                <a16:creationId xmlns:a16="http://schemas.microsoft.com/office/drawing/2014/main" id="{C23E460C-992C-4564-81D4-FE310CC61EA3}"/>
              </a:ext>
            </a:extLst>
          </p:cNvPr>
          <p:cNvSpPr>
            <a:spLocks xmlns:a="http://schemas.openxmlformats.org/drawingml/2006/main" noGrp="1"/>
          </p:cNvSpPr>
          <p:nvPr/>
        </p:nvSpPr>
        <p:spPr>
          <a:xfrm xmlns:a="http://schemas.openxmlformats.org/drawingml/2006/main">
            <a:off x="2072600" y="448055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Export a reproducible JSON report for testing, documentation, and viva</a:t>
            </a:r>
            <a:endParaRPr sz="1400" b="0" i="0" u="none" cap="none">
              <a:solidFill>
                <a:schemeClr val="dk1"/>
              </a:solidFill>
              <a:latin typeface="Calibri"/>
              <a:ea typeface="Calibri"/>
              <a:cs typeface="Calibri"/>
            </a:endParaRPr>
          </a:p>
        </p:txBody>
      </p:sp>
      <p:sp>
        <p:nvSpPr>
          <p:cNvPr id="174" name="Google Shape;174;p10">
            <a:extLst xmlns:a="http://schemas.openxmlformats.org/drawingml/2006/main">
              <a:ext uri="{FF2B5EF4-FFF2-40B4-BE49-F238E27FC236}">
                <a16:creationId xmlns:a16="http://schemas.microsoft.com/office/drawing/2014/main" id="{6DC68E1A-76BE-465A-B002-2D5DFF67774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75" name="Google Shape;175;p10">
            <a:extLst xmlns:a="http://schemas.openxmlformats.org/drawingml/2006/main">
              <a:ext uri="{FF2B5EF4-FFF2-40B4-BE49-F238E27FC236}">
                <a16:creationId xmlns:a16="http://schemas.microsoft.com/office/drawing/2014/main" id="{F08EB418-4A2E-4C4F-9B13-3C9D12D2E437}"/>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8</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487285007"/>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81" name="Google Shape;181;p11">
            <a:extLst xmlns:a="http://schemas.openxmlformats.org/drawingml/2006/main">
              <a:ext uri="{FF2B5EF4-FFF2-40B4-BE49-F238E27FC236}">
                <a16:creationId xmlns:a16="http://schemas.microsoft.com/office/drawing/2014/main" id="{0DE9FD93-22C5-44C2-AA21-4AA5C1F716B1}"/>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2" name="Google Shape;182;p11">
            <a:extLst xmlns:a="http://schemas.openxmlformats.org/drawingml/2006/main">
              <a:ext uri="{FF2B5EF4-FFF2-40B4-BE49-F238E27FC236}">
                <a16:creationId xmlns:a16="http://schemas.microsoft.com/office/drawing/2014/main" id="{3B405B8B-B39F-4EB3-AC4C-9D47711D41BA}"/>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3" name="Google Shape;183;p11">
            <a:extLst xmlns:a="http://schemas.openxmlformats.org/drawingml/2006/main">
              <a:ext uri="{FF2B5EF4-FFF2-40B4-BE49-F238E27FC236}">
                <a16:creationId xmlns:a16="http://schemas.microsoft.com/office/drawing/2014/main" id="{35244081-BCE9-4B88-BA59-F1B6ED244A8F}"/>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4" name="Google Shape;184;p11">
            <a:extLst xmlns:a="http://schemas.openxmlformats.org/drawingml/2006/main">
              <a:ext uri="{FF2B5EF4-FFF2-40B4-BE49-F238E27FC236}">
                <a16:creationId xmlns:a16="http://schemas.microsoft.com/office/drawing/2014/main" id="{7A9686E5-2F87-46C2-A614-F8CAE1F95485}"/>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08</a:t>
            </a:r>
            <a:endParaRPr sz="1600" b="0" i="0" u="none" cap="none">
              <a:solidFill>
                <a:schemeClr val="dk1"/>
              </a:solidFill>
              <a:latin typeface="Calibri"/>
              <a:ea typeface="Calibri"/>
              <a:cs typeface="Calibri"/>
            </a:endParaRPr>
          </a:p>
        </p:txBody>
      </p:sp>
      <p:sp>
        <p:nvSpPr>
          <p:cNvPr id="185" name="Google Shape;185;p11">
            <a:extLst xmlns:a="http://schemas.openxmlformats.org/drawingml/2006/main">
              <a:ext uri="{FF2B5EF4-FFF2-40B4-BE49-F238E27FC236}">
                <a16:creationId xmlns:a16="http://schemas.microsoft.com/office/drawing/2014/main" id="{F30DBBBD-1510-47D4-9EAA-FC9B03C89C6A}"/>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08</a:t>
            </a:r>
            <a:endParaRPr sz="1100" b="0" i="0" u="none" cap="none">
              <a:solidFill>
                <a:schemeClr val="dk1"/>
              </a:solidFill>
              <a:latin typeface="Calibri"/>
              <a:ea typeface="Calibri"/>
              <a:cs typeface="Calibri"/>
            </a:endParaRPr>
          </a:p>
        </p:txBody>
      </p:sp>
      <p:sp>
        <p:nvSpPr>
          <p:cNvPr id="186" name="Google Shape;186;p11">
            <a:extLst xmlns:a="http://schemas.openxmlformats.org/drawingml/2006/main">
              <a:ext uri="{FF2B5EF4-FFF2-40B4-BE49-F238E27FC236}">
                <a16:creationId xmlns:a16="http://schemas.microsoft.com/office/drawing/2014/main" id="{9EE044E3-C594-4EF6-961D-6AD7F91F2F52}"/>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References</a:t>
            </a:r>
            <a:endParaRPr sz="3000" b="0" i="0" u="none" cap="none">
              <a:solidFill>
                <a:schemeClr val="dk1"/>
              </a:solidFill>
              <a:latin typeface="Calibri"/>
              <a:ea typeface="Calibri"/>
              <a:cs typeface="Calibri"/>
            </a:endParaRPr>
          </a:p>
        </p:txBody>
      </p:sp>
      <p:sp>
        <p:nvSpPr>
          <p:cNvPr id="187" name="Google Shape;187;p11">
            <a:extLst xmlns:a="http://schemas.openxmlformats.org/drawingml/2006/main">
              <a:ext uri="{FF2B5EF4-FFF2-40B4-BE49-F238E27FC236}">
                <a16:creationId xmlns:a16="http://schemas.microsoft.com/office/drawing/2014/main" id="{0B13D8EA-F9AB-4CBD-9F71-00B98DB26FE6}"/>
              </a:ext>
            </a:extLst>
          </p:cNvPr>
          <p:cNvSpPr>
            <a:spLocks xmlns:a="http://schemas.openxmlformats.org/drawingml/2006/main" noGrp="1"/>
          </p:cNvSpPr>
          <p:nvPr/>
        </p:nvSpPr>
        <p:spPr>
          <a:xfrm xmlns:a="http://schemas.openxmlformats.org/drawingml/2006/main">
            <a:off x="1249640" y="4563960"/>
            <a:ext cx="9692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1300"/>
              <a:buFont typeface="Calibri"/>
              <a:buNone/>
            </a:pPr>
            <a:r>
              <a:rPr sz="1400" b="0" i="1" u="none" cap="none">
                <a:solidFill>
                  <a:srgbClr val="6B7593"/>
                </a:solidFill>
                <a:latin typeface="Calibri"/>
                <a:ea typeface="Calibri"/>
                <a:cs typeface="Calibri"/>
              </a:rPr>
              <a:t>References follow the sources used in the synopsis and report</a:t>
            </a:r>
            <a:endParaRPr sz="1400" b="0" i="0" u="none" cap="none">
              <a:solidFill>
                <a:schemeClr val="dk1"/>
              </a:solidFill>
              <a:latin typeface="Calibri"/>
              <a:ea typeface="Calibri"/>
              <a:cs typeface="Calibri"/>
            </a:endParaRPr>
          </a:p>
        </p:txBody>
      </p:sp>
      <p:sp>
        <p:nvSpPr>
          <p:cNvPr id="188" name="Google Shape;188;p11">
            <a:extLst xmlns:a="http://schemas.openxmlformats.org/drawingml/2006/main">
              <a:ext uri="{FF2B5EF4-FFF2-40B4-BE49-F238E27FC236}">
                <a16:creationId xmlns:a16="http://schemas.microsoft.com/office/drawing/2014/main" id="{1387304A-3CA1-40ED-9FD2-367150CF8616}"/>
              </a:ext>
            </a:extLst>
          </p:cNvPr>
          <p:cNvSpPr>
            <a:spLocks xmlns:a="http://schemas.openxmlformats.org/drawingml/2006/main" noGrp="1"/>
          </p:cNvSpPr>
          <p:nvPr/>
        </p:nvSpPr>
        <p:spPr>
          <a:xfrm xmlns:a="http://schemas.openxmlformats.org/drawingml/2006/main">
            <a:off x="1249650" y="1243575"/>
            <a:ext cx="9692700" cy="300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[1] K. Kent and M. Souppaya, Guide to Computer Security Log Management, NIST SP 800-92, 2006.</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pPr>
            <a: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[2] OWASP Foundation, Logging Cheat Sheet, OWASP Cheat Sheet Series.</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[3] MITRE ATT and CK, Brute Force Password Guessing T1110.001.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[4] MITRE ATT and CK, Valid Accounts T1078.</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[5] OWASP Foundation, SQL Injection Prevention Cheat Sheet.</a:t>
            </a:r>
            <a:endParaRPr sz="1300" b="0" i="0" u="none" cap="none">
              <a:solidFill>
                <a:schemeClr val="dk1"/>
              </a:solidFill>
              <a:latin typeface="Calibri"/>
              <a:ea typeface="Calibri"/>
              <a:cs typeface="Calibri"/>
            </a:endParaRPr>
          </a:p>
        </p:txBody>
      </p:sp>
      <p:sp>
        <p:nvSpPr>
          <p:cNvPr id="189" name="Google Shape;189;p11">
            <a:extLst xmlns:a="http://schemas.openxmlformats.org/drawingml/2006/main">
              <a:ext uri="{FF2B5EF4-FFF2-40B4-BE49-F238E27FC236}">
                <a16:creationId xmlns:a16="http://schemas.microsoft.com/office/drawing/2014/main" id="{5E69FC3A-36E7-4AC7-BA02-11F1E3ED622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90" name="Google Shape;190;p11">
            <a:extLst xmlns:a="http://schemas.openxmlformats.org/drawingml/2006/main">
              <a:ext uri="{FF2B5EF4-FFF2-40B4-BE49-F238E27FC236}">
                <a16:creationId xmlns:a16="http://schemas.microsoft.com/office/drawing/2014/main" id="{92FA2D99-BB3E-4AB5-9A46-CAFE6A1133DD}"/>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9</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918517099"/>
      </p:ext>
    </p:extLst>
  </p:cSld>
</p:sld>
</file>

<file path=ppt/slides/slide10.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96" name="Google Shape;196;p12">
            <a:extLst xmlns:a="http://schemas.openxmlformats.org/drawingml/2006/main">
              <a:ext uri="{FF2B5EF4-FFF2-40B4-BE49-F238E27FC236}">
                <a16:creationId xmlns:a16="http://schemas.microsoft.com/office/drawing/2014/main" id="{B5D6BC60-4FDE-4481-A565-4348AE767791}"/>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97" name="Google Shape;197;p12">
            <a:extLst xmlns:a="http://schemas.openxmlformats.org/drawingml/2006/main">
              <a:ext uri="{FF2B5EF4-FFF2-40B4-BE49-F238E27FC236}">
                <a16:creationId xmlns:a16="http://schemas.microsoft.com/office/drawing/2014/main" id="{0B463862-36B8-4309-B2DA-F8F74F8E3C43}"/>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98" name="Google Shape;198;p12">
            <a:extLst xmlns:a="http://schemas.openxmlformats.org/drawingml/2006/main">
              <a:ext uri="{FF2B5EF4-FFF2-40B4-BE49-F238E27FC236}">
                <a16:creationId xmlns:a16="http://schemas.microsoft.com/office/drawing/2014/main" id="{04E9B148-55A5-44B2-A54A-886A9A8BAA98}"/>
              </a:ext>
            </a:extLst>
          </p:cNvPr>
          <p:cNvSpPr>
            <a:spLocks xmlns:a="http://schemas.openxmlformats.org/drawingml/2006/main" noGrp="1"/>
          </p:cNvSpPr>
          <p:nvPr/>
        </p:nvSpPr>
        <p:spPr>
          <a:xfrm xmlns:a="http://schemas.openxmlformats.org/drawingml/2006/main">
            <a:off x="914400" y="2468880"/>
            <a:ext cx="10360152"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800"/>
              <a:buFont typeface="Cambria"/>
              <a:buNone/>
            </a:pPr>
            <a:r>
              <a:rPr sz="4800" b="1" i="0" u="none" cap="none">
                <a:solidFill>
                  <a:srgbClr val="FFFFFF"/>
                </a:solidFill>
                <a:latin typeface="Cambria"/>
                <a:ea typeface="Cambria"/>
                <a:cs typeface="Cambria"/>
              </a:rPr>
              <a:t>THANK YOU</a:t>
            </a:r>
            <a:endParaRPr sz="4800" b="0" i="0" u="none" cap="none">
              <a:solidFill>
                <a:schemeClr val="dk1"/>
              </a:solidFill>
              <a:latin typeface="Calibri"/>
              <a:ea typeface="Calibri"/>
              <a:cs typeface="Calibri"/>
            </a:endParaRPr>
          </a:p>
        </p:txBody>
      </p:sp>
      <p:sp>
        <p:nvSpPr>
          <p:cNvPr id="199" name="Google Shape;199;p12">
            <a:extLst xmlns:a="http://schemas.openxmlformats.org/drawingml/2006/main">
              <a:ext uri="{FF2B5EF4-FFF2-40B4-BE49-F238E27FC236}">
                <a16:creationId xmlns:a16="http://schemas.microsoft.com/office/drawing/2014/main" id="{901C7182-D57D-40A7-B922-C0DED6048C92}"/>
              </a:ext>
            </a:extLst>
          </p:cNvPr>
          <p:cNvSpPr>
            <a:spLocks xmlns:a="http://schemas.openxmlformats.org/drawingml/2006/main" noGrp="1"/>
          </p:cNvSpPr>
          <p:nvPr/>
        </p:nvSpPr>
        <p:spPr>
          <a:xfrm xmlns:a="http://schemas.openxmlformats.org/drawingml/2006/main">
            <a:off x="914400" y="3520440"/>
            <a:ext cx="10360152"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600"/>
              <a:buFont typeface="Calibri"/>
              <a:buNone/>
            </a:pPr>
            <a:r>
              <a:rPr sz="1600" b="0" i="1" u="none" cap="none">
                <a:solidFill>
                  <a:srgbClr val="CFE3EE"/>
                </a:solidFill>
                <a:latin typeface="Calibri"/>
                <a:ea typeface="Calibri"/>
                <a:cs typeface="Calibri"/>
              </a:rPr>
              <a:t>Questions are welcome</a:t>
            </a:r>
            <a:endParaRPr sz="1600" b="0" i="0" u="none" cap="none">
              <a:solidFill>
                <a:schemeClr val="dk1"/>
              </a:solidFill>
              <a:latin typeface="Calibri"/>
              <a:ea typeface="Calibri"/>
              <a:cs typeface="Calibri"/>
            </a:endParaRPr>
          </a:p>
        </p:txBody>
      </p:sp>
      <p:cxnSp>
        <p:nvCxnSpPr>
          <p:cNvPr id="206" name="Google Shape;200;p12"/>
          <p:cNvCxnSpPr/>
          <p:nvPr/>
        </p:nvCxnSpPr>
        <p:spPr>
          <a:xfrm xmlns:a="http://schemas.openxmlformats.org/drawingml/2006/main">
            <a:off x="5271516" y="4160520"/>
            <a:ext cx="1645920" cy="0"/>
          </a:xfrm>
          <a:prstGeom xmlns:a="http://schemas.openxmlformats.org/drawingml/2006/main" prst="straightConnector1">
            <a:avLst/>
          </a:prstGeom>
          <a:ln xmlns:a="http://schemas.openxmlformats.org/drawingml/2006/main" w="25400" cap="flat">
            <a:solidFill>
              <a:srgbClr val="1C7293"/>
            </a:solidFill>
            <a:prstDash val="solid"/>
            <a:round/>
            <a:headEnd type="none" w="sm" len="sm"/>
            <a:tailEnd type="none" w="sm" len="sm"/>
          </a:ln>
        </p:spPr>
      </p:cxnSp>
      <p:sp>
        <p:nvSpPr>
          <p:cNvPr id="201" name="Google Shape;201;p12">
            <a:extLst xmlns:a="http://schemas.openxmlformats.org/drawingml/2006/main">
              <a:ext uri="{FF2B5EF4-FFF2-40B4-BE49-F238E27FC236}">
                <a16:creationId xmlns:a16="http://schemas.microsoft.com/office/drawing/2014/main" id="{F4A73C70-9101-48BB-8584-8C06E60341A0}"/>
              </a:ext>
            </a:extLst>
          </p:cNvPr>
          <p:cNvSpPr>
            <a:spLocks xmlns:a="http://schemas.openxmlformats.org/drawingml/2006/main" noGrp="1"/>
          </p:cNvSpPr>
          <p:nvPr/>
        </p:nvSpPr>
        <p:spPr>
          <a:xfrm xmlns:a="http://schemas.openxmlformats.org/drawingml/2006/main">
            <a:off x="915925" y="4559880"/>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100"/>
              <a:buFont typeface="Calibri"/>
              <a:buNone/>
            </a:pPr>
            <a:r>
              <a:rPr sz="1300" b="0" i="0" u="none" cap="none">
                <a:solidFill>
                  <a:srgbClr val="CFE3EE"/>
                </a:solidFill>
                <a:latin typeface="Calibri"/>
                <a:ea typeface="Calibri"/>
                <a:cs typeface="Calibri"/>
              </a:rPr>
              <a:t>Lloyd Institute of Engineering &amp; Technology, Greater Noida</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77789973"/>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2026-09-25T17:03:14.3440000Z</dcterms:created>
  <dcterms:modified xsi:type="dcterms:W3CDTF">2026-09-25T17:03:14.3440000Z</dcterms:modified>
</coreProperties>
</file>